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74" r:id="rId2"/>
  </p:sldMasterIdLst>
  <p:sldIdLst>
    <p:sldId id="256" r:id="rId3"/>
    <p:sldId id="257" r:id="rId4"/>
    <p:sldId id="258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59" r:id="rId14"/>
  </p:sldIdLst>
  <p:sldSz cx="12192000" cy="10456863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F8E"/>
    <a:srgbClr val="1DA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21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9468707"/>
            <a:ext cx="11155680" cy="69711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1491848"/>
            <a:ext cx="11155680" cy="5228432"/>
          </a:xfrm>
        </p:spPr>
        <p:txBody>
          <a:bodyPr anchor="t">
            <a:normAutofit/>
          </a:bodyPr>
          <a:lstStyle>
            <a:lvl1pPr algn="l">
              <a:defRPr sz="720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6831817"/>
            <a:ext cx="7104888" cy="2133200"/>
          </a:xfrm>
        </p:spPr>
        <p:txBody>
          <a:bodyPr anchor="b">
            <a:normAutofit/>
          </a:bodyPr>
          <a:lstStyle>
            <a:lvl1pPr marL="0" indent="0" algn="l">
              <a:buNone/>
              <a:defRPr sz="2199" i="1"/>
            </a:lvl1pPr>
            <a:lvl2pPr marL="457300" indent="0" algn="ctr">
              <a:buNone/>
              <a:defRPr sz="2002"/>
            </a:lvl2pPr>
            <a:lvl3pPr marL="914601" indent="0" algn="ctr">
              <a:buNone/>
              <a:defRPr sz="1800"/>
            </a:lvl3pPr>
            <a:lvl4pPr marL="1371897" indent="0" algn="ctr">
              <a:buNone/>
              <a:defRPr sz="1601"/>
            </a:lvl4pPr>
            <a:lvl5pPr marL="1829198" indent="0" algn="ctr">
              <a:buNone/>
              <a:defRPr sz="1601"/>
            </a:lvl5pPr>
            <a:lvl6pPr marL="2286497" indent="0" algn="ctr">
              <a:buNone/>
              <a:defRPr sz="1601"/>
            </a:lvl6pPr>
            <a:lvl7pPr marL="2743797" indent="0" algn="ctr">
              <a:buNone/>
              <a:defRPr sz="1601"/>
            </a:lvl7pPr>
            <a:lvl8pPr marL="3201097" indent="0" algn="ctr">
              <a:buNone/>
              <a:defRPr sz="1601"/>
            </a:lvl8pPr>
            <a:lvl9pPr marL="3658395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8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5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491846"/>
            <a:ext cx="5020056" cy="6539025"/>
          </a:xfrm>
        </p:spPr>
        <p:txBody>
          <a:bodyPr anchor="t">
            <a:normAutofit/>
          </a:bodyPr>
          <a:lstStyle>
            <a:lvl1pPr>
              <a:defRPr sz="540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8030872"/>
            <a:ext cx="5020056" cy="1659156"/>
          </a:xfrm>
        </p:spPr>
        <p:txBody>
          <a:bodyPr anchor="b">
            <a:normAutofit/>
          </a:bodyPr>
          <a:lstStyle>
            <a:lvl1pPr marL="0" indent="0">
              <a:buNone/>
              <a:defRPr sz="2199" i="1">
                <a:solidFill>
                  <a:schemeClr val="tx1">
                    <a:tint val="82000"/>
                  </a:schemeClr>
                </a:solidFill>
              </a:defRPr>
            </a:lvl1pPr>
            <a:lvl2pPr marL="457300" indent="0">
              <a:buNone/>
              <a:defRPr sz="2002">
                <a:solidFill>
                  <a:schemeClr val="tx1">
                    <a:tint val="82000"/>
                  </a:schemeClr>
                </a:solidFill>
              </a:defRPr>
            </a:lvl2pPr>
            <a:lvl3pPr marL="914601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897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4pPr>
            <a:lvl5pPr marL="1829198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5pPr>
            <a:lvl6pPr marL="2286497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6pPr>
            <a:lvl7pPr marL="2743797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7pPr>
            <a:lvl8pPr marL="3201097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8pPr>
            <a:lvl9pPr marL="3658395" indent="0">
              <a:buNone/>
              <a:defRPr sz="160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81" y="774727"/>
            <a:ext cx="5021183" cy="2276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9339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3931782"/>
            <a:ext cx="5166360" cy="5744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3931782"/>
            <a:ext cx="5166360" cy="5744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96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491846"/>
            <a:ext cx="11164824" cy="18543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3569276"/>
            <a:ext cx="5166360" cy="1003859"/>
          </a:xfrm>
        </p:spPr>
        <p:txBody>
          <a:bodyPr anchor="b">
            <a:normAutofit/>
          </a:bodyPr>
          <a:lstStyle>
            <a:lvl1pPr marL="0" indent="0">
              <a:buNone/>
              <a:defRPr sz="2199" b="0" i="1"/>
            </a:lvl1pPr>
            <a:lvl2pPr marL="457300" indent="0">
              <a:buNone/>
              <a:defRPr sz="2002" b="1"/>
            </a:lvl2pPr>
            <a:lvl3pPr marL="914601" indent="0">
              <a:buNone/>
              <a:defRPr sz="1800" b="1"/>
            </a:lvl3pPr>
            <a:lvl4pPr marL="1371897" indent="0">
              <a:buNone/>
              <a:defRPr sz="1601" b="1"/>
            </a:lvl4pPr>
            <a:lvl5pPr marL="1829198" indent="0">
              <a:buNone/>
              <a:defRPr sz="1601" b="1"/>
            </a:lvl5pPr>
            <a:lvl6pPr marL="2286497" indent="0">
              <a:buNone/>
              <a:defRPr sz="1601" b="1"/>
            </a:lvl6pPr>
            <a:lvl7pPr marL="2743797" indent="0">
              <a:buNone/>
              <a:defRPr sz="1601" b="1"/>
            </a:lvl7pPr>
            <a:lvl8pPr marL="3201097" indent="0">
              <a:buNone/>
              <a:defRPr sz="1601" b="1"/>
            </a:lvl8pPr>
            <a:lvl9pPr marL="3658395" indent="0">
              <a:buNone/>
              <a:defRPr sz="160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4628905"/>
            <a:ext cx="5166360" cy="5047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3569276"/>
            <a:ext cx="5166360" cy="1003859"/>
          </a:xfrm>
        </p:spPr>
        <p:txBody>
          <a:bodyPr anchor="b">
            <a:normAutofit/>
          </a:bodyPr>
          <a:lstStyle>
            <a:lvl1pPr marL="0" indent="0">
              <a:buNone/>
              <a:defRPr sz="2199" b="0" i="1"/>
            </a:lvl1pPr>
            <a:lvl2pPr marL="457300" indent="0">
              <a:buNone/>
              <a:defRPr sz="2002" b="1"/>
            </a:lvl2pPr>
            <a:lvl3pPr marL="914601" indent="0">
              <a:buNone/>
              <a:defRPr sz="1800" b="1"/>
            </a:lvl3pPr>
            <a:lvl4pPr marL="1371897" indent="0">
              <a:buNone/>
              <a:defRPr sz="1601" b="1"/>
            </a:lvl4pPr>
            <a:lvl5pPr marL="1829198" indent="0">
              <a:buNone/>
              <a:defRPr sz="1601" b="1"/>
            </a:lvl5pPr>
            <a:lvl6pPr marL="2286497" indent="0">
              <a:buNone/>
              <a:defRPr sz="1601" b="1"/>
            </a:lvl6pPr>
            <a:lvl7pPr marL="2743797" indent="0">
              <a:buNone/>
              <a:defRPr sz="1601" b="1"/>
            </a:lvl7pPr>
            <a:lvl8pPr marL="3201097" indent="0">
              <a:buNone/>
              <a:defRPr sz="1601" b="1"/>
            </a:lvl8pPr>
            <a:lvl9pPr marL="3658395" indent="0">
              <a:buNone/>
              <a:defRPr sz="160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4628905"/>
            <a:ext cx="5166360" cy="5047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6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1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4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491846"/>
            <a:ext cx="5020056" cy="3750528"/>
          </a:xfrm>
        </p:spPr>
        <p:txBody>
          <a:bodyPr anchor="t">
            <a:noAutofit/>
          </a:bodyPr>
          <a:lstStyle>
            <a:lvl1pPr>
              <a:defRPr sz="440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1505595"/>
            <a:ext cx="5166360" cy="8170295"/>
          </a:xfrm>
        </p:spPr>
        <p:txBody>
          <a:bodyPr>
            <a:normAutofit/>
          </a:bodyPr>
          <a:lstStyle>
            <a:lvl1pPr>
              <a:defRPr sz="2002"/>
            </a:lvl1pPr>
            <a:lvl2pPr>
              <a:defRPr sz="1800"/>
            </a:lvl2pPr>
            <a:lvl3pPr>
              <a:defRPr sz="1601"/>
            </a:lvl3pPr>
            <a:lvl4pPr>
              <a:defRPr sz="1399"/>
            </a:lvl4pPr>
            <a:lvl5pPr>
              <a:defRPr sz="1399"/>
            </a:lvl5pPr>
            <a:lvl6pPr>
              <a:defRPr sz="2002"/>
            </a:lvl6pPr>
            <a:lvl7pPr>
              <a:defRPr sz="2002"/>
            </a:lvl7pPr>
            <a:lvl8pPr>
              <a:defRPr sz="2002"/>
            </a:lvl8pPr>
            <a:lvl9pPr>
              <a:defRPr sz="2002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5451512"/>
            <a:ext cx="5020056" cy="4224572"/>
          </a:xfrm>
        </p:spPr>
        <p:txBody>
          <a:bodyPr>
            <a:normAutofit/>
          </a:bodyPr>
          <a:lstStyle>
            <a:lvl1pPr marL="0" indent="0">
              <a:buNone/>
              <a:defRPr sz="2199" i="1"/>
            </a:lvl1pPr>
            <a:lvl2pPr marL="457300" indent="0">
              <a:buNone/>
              <a:defRPr sz="1399"/>
            </a:lvl2pPr>
            <a:lvl3pPr marL="914601" indent="0">
              <a:buNone/>
              <a:defRPr sz="1199"/>
            </a:lvl3pPr>
            <a:lvl4pPr marL="1371897" indent="0">
              <a:buNone/>
              <a:defRPr sz="1000"/>
            </a:lvl4pPr>
            <a:lvl5pPr marL="1829198" indent="0">
              <a:buNone/>
              <a:defRPr sz="1000"/>
            </a:lvl5pPr>
            <a:lvl6pPr marL="2286497" indent="0">
              <a:buNone/>
              <a:defRPr sz="1000"/>
            </a:lvl6pPr>
            <a:lvl7pPr marL="2743797" indent="0">
              <a:buNone/>
              <a:defRPr sz="1000"/>
            </a:lvl7pPr>
            <a:lvl8pPr marL="3201097" indent="0">
              <a:buNone/>
              <a:defRPr sz="1000"/>
            </a:lvl8pPr>
            <a:lvl9pPr marL="365839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2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491846"/>
            <a:ext cx="5020056" cy="3750528"/>
          </a:xfrm>
        </p:spPr>
        <p:txBody>
          <a:bodyPr anchor="t">
            <a:noAutofit/>
          </a:bodyPr>
          <a:lstStyle>
            <a:lvl1pPr>
              <a:defRPr sz="440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1505595"/>
            <a:ext cx="5166360" cy="8170295"/>
          </a:xfrm>
        </p:spPr>
        <p:txBody>
          <a:bodyPr/>
          <a:lstStyle>
            <a:lvl1pPr marL="0" indent="0">
              <a:buNone/>
              <a:defRPr sz="3199"/>
            </a:lvl1pPr>
            <a:lvl2pPr marL="457300" indent="0">
              <a:buNone/>
              <a:defRPr sz="2800"/>
            </a:lvl2pPr>
            <a:lvl3pPr marL="914601" indent="0">
              <a:buNone/>
              <a:defRPr sz="2400"/>
            </a:lvl3pPr>
            <a:lvl4pPr marL="1371897" indent="0">
              <a:buNone/>
              <a:defRPr sz="2002"/>
            </a:lvl4pPr>
            <a:lvl5pPr marL="1829198" indent="0">
              <a:buNone/>
              <a:defRPr sz="2002"/>
            </a:lvl5pPr>
            <a:lvl6pPr marL="2286497" indent="0">
              <a:buNone/>
              <a:defRPr sz="2002"/>
            </a:lvl6pPr>
            <a:lvl7pPr marL="2743797" indent="0">
              <a:buNone/>
              <a:defRPr sz="2002"/>
            </a:lvl7pPr>
            <a:lvl8pPr marL="3201097" indent="0">
              <a:buNone/>
              <a:defRPr sz="2002"/>
            </a:lvl8pPr>
            <a:lvl9pPr marL="3658395" indent="0">
              <a:buNone/>
              <a:defRPr sz="2002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5451512"/>
            <a:ext cx="5020056" cy="4224572"/>
          </a:xfrm>
        </p:spPr>
        <p:txBody>
          <a:bodyPr>
            <a:normAutofit/>
          </a:bodyPr>
          <a:lstStyle>
            <a:lvl1pPr marL="0" indent="0">
              <a:buNone/>
              <a:defRPr sz="2199" i="1"/>
            </a:lvl1pPr>
            <a:lvl2pPr marL="457300" indent="0">
              <a:buNone/>
              <a:defRPr sz="1399"/>
            </a:lvl2pPr>
            <a:lvl3pPr marL="914601" indent="0">
              <a:buNone/>
              <a:defRPr sz="1199"/>
            </a:lvl3pPr>
            <a:lvl4pPr marL="1371897" indent="0">
              <a:buNone/>
              <a:defRPr sz="1000"/>
            </a:lvl4pPr>
            <a:lvl5pPr marL="1829198" indent="0">
              <a:buNone/>
              <a:defRPr sz="1000"/>
            </a:lvl5pPr>
            <a:lvl6pPr marL="2286497" indent="0">
              <a:buNone/>
              <a:defRPr sz="1000"/>
            </a:lvl6pPr>
            <a:lvl7pPr marL="2743797" indent="0">
              <a:buNone/>
              <a:defRPr sz="1000"/>
            </a:lvl7pPr>
            <a:lvl8pPr marL="3201097" indent="0">
              <a:buNone/>
              <a:defRPr sz="1000"/>
            </a:lvl8pPr>
            <a:lvl9pPr marL="365839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4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5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1491846"/>
            <a:ext cx="2551176" cy="81842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1491846"/>
            <a:ext cx="8010144" cy="81842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7539235" y="5505500"/>
            <a:ext cx="812051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15920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B665E-834C-B1FA-1A91-D06ACD7C9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1344"/>
            <a:ext cx="9144000" cy="36405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4E282-BC43-DCF9-D953-E899F1B09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92274"/>
            <a:ext cx="9144000" cy="252465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4CD43-CBEF-90FC-87B4-F874BB27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30426-ED3B-4341-6E42-9AD96647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F84EE-7F44-E0AA-ACCC-47B7EDBA6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62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1A39-F2C6-131F-6F44-3BCC3188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70834-BA4A-95BD-C78D-1597C5C6B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B483F-F95C-CD9A-CB27-F594E35A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3DC64-A57A-1A68-212D-1CF3CE9E1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5383F-8554-BE5B-421D-ECE307E0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4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B53F-13A9-62C4-E693-6C597D7FB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06955"/>
            <a:ext cx="10515600" cy="434976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43F57-0262-D723-D35F-6BCA835B3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997870"/>
            <a:ext cx="10515600" cy="22874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6CA81-28DB-F1DD-E23A-B076D3E61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C4993-0125-0C67-A989-C401DB62A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3F556-1359-19F7-66F4-9CB4DD5C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99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761E6-ADD4-EBFA-6E3E-8BD3F1013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769AA-1AEE-D8A2-332D-775BC11354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83655"/>
            <a:ext cx="5181600" cy="6634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6B7B2-6B7F-62EF-FC7C-EB0C11479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83655"/>
            <a:ext cx="5181600" cy="6634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BBC27-35FC-CA04-0AA1-20B41471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E7C40-BD8D-CB51-506A-9EB267224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DF18D-8E39-F2CB-A94B-42CC4759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53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E8C2-D47C-E991-F747-322E4576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56732"/>
            <a:ext cx="10515600" cy="2021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392A2-81D1-AE69-DBD8-A12B87872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563385"/>
            <a:ext cx="5157787" cy="12562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30C86-81C4-CF37-466B-DAEB920C9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819660"/>
            <a:ext cx="5157787" cy="561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4F8CDD-6BD1-05D3-DF4C-D27AC8C40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63385"/>
            <a:ext cx="5183188" cy="12562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873C76-A4AB-73CD-3ADB-1F5889C4D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819660"/>
            <a:ext cx="5183188" cy="561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452B35-51B1-A0C2-6A6F-C81474C0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8F490-0420-F6FC-CDE7-4C936319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041F58-EE71-276B-F300-97A2A5493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9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B97B-6071-CA2E-FFA4-C13CA7855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49960-35AB-99C7-95A0-35BB9935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26A4A4-9CAB-156E-94D3-8DDF0D812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8A28F-9C9A-8C0A-8DDE-33F56373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701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C2DB44-C918-A2F1-5746-B86C2D964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A21238-A938-539B-D175-46CA9FF16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9B39B-65A2-5351-ABA9-7DC6715B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50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8CE7E-F03D-39B7-47D0-780B5EB03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97124"/>
            <a:ext cx="3932237" cy="24399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C9930-987E-DFC9-F34D-449B22386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05596"/>
            <a:ext cx="6172200" cy="7431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2839A-F2FB-3C0A-0030-F67ECD405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3137059"/>
            <a:ext cx="3932237" cy="58117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D79E0-E79F-8BC3-2523-9E68DF4E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46C82-142C-19B4-76D8-3079BEBF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32B7D-4E40-1F4B-5F32-E338EB60F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99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BC6B0-1DFF-E886-5BF0-E3E29CA3F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97124"/>
            <a:ext cx="3932237" cy="24399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4B265-F3BF-E35C-737E-DA8F5717F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505596"/>
            <a:ext cx="6172200" cy="74311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1B085-569C-6624-5BA9-0934B98AE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3137059"/>
            <a:ext cx="3932237" cy="58117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79EE2-B072-6320-25D2-72CCC9DC2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3AF57-A96A-E842-D9C7-5DFD1752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C400B-9529-4454-A9EE-F8A39A10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657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B69E-DFB6-3993-C020-171932AD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242AAF-3E1B-A120-A3EE-CFB2885CA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FC5DC-7695-4D25-2D80-C0984CE1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1C619-90BD-E811-727B-616C609C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650F8-E58A-1E23-E022-EB5B7820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314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44FF83-1087-6B18-F09D-10E6318E1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6731"/>
            <a:ext cx="2628900" cy="886170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8E051-736B-4B76-2880-8A08F31E4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56731"/>
            <a:ext cx="7734300" cy="88617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DAE5D-27FB-F719-D4CB-493433AC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5E74C-21A3-46B7-D3D0-61645AEFA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9C40D-0D4F-7B12-557D-A8615242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3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491849"/>
            <a:ext cx="11155680" cy="22307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3931782"/>
            <a:ext cx="11155680" cy="5744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9787629"/>
            <a:ext cx="2743200" cy="556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1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53373"/>
            <a:ext cx="4114800" cy="556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9787629"/>
            <a:ext cx="640080" cy="556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1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774727"/>
            <a:ext cx="11153214" cy="227616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82810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601" rtl="0" eaLnBrk="1" latinLnBrk="0" hangingPunct="1">
        <a:lnSpc>
          <a:spcPct val="100000"/>
        </a:lnSpc>
        <a:spcBef>
          <a:spcPct val="0"/>
        </a:spcBef>
        <a:buNone/>
        <a:defRPr sz="4401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49" indent="-228649" algn="l" defTabSz="914601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951" indent="-228649" algn="l" defTabSz="914601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248" indent="-228649" algn="l" defTabSz="914601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548" indent="-228649" algn="l" defTabSz="914601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1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849" indent="-228649" algn="l" defTabSz="914601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199" kern="1200">
          <a:solidFill>
            <a:schemeClr val="tx1"/>
          </a:solidFill>
          <a:latin typeface="+mn-lt"/>
          <a:ea typeface="+mn-ea"/>
          <a:cs typeface="+mn-cs"/>
        </a:defRPr>
      </a:lvl5pPr>
      <a:lvl6pPr marL="2515146" indent="-228649" algn="l" defTabSz="91460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46" indent="-228649" algn="l" defTabSz="91460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748" indent="-228649" algn="l" defTabSz="91460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7046" indent="-228649" algn="l" defTabSz="91460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300" algn="l" defTabSz="914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601" algn="l" defTabSz="914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97" algn="l" defTabSz="914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198" algn="l" defTabSz="914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497" algn="l" defTabSz="914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797" algn="l" defTabSz="914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97" algn="l" defTabSz="914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395" algn="l" defTabSz="9146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D07BE9-3256-DD7C-D468-96F31676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732"/>
            <a:ext cx="10515600" cy="2021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99B05-8192-4B83-5EF3-CBAA2D5F7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83655"/>
            <a:ext cx="10515600" cy="6634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29FC0-8EAD-6848-224D-8975D2637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9691964"/>
            <a:ext cx="2743200" cy="556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B7334-88DA-A0ED-4A6D-0C6130A55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9691964"/>
            <a:ext cx="4114800" cy="556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C3E68-4EF9-8306-5309-6B843232C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9691964"/>
            <a:ext cx="2743200" cy="556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4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1799436"/>
            <a:ext cx="12192001" cy="685800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601">
              <a:defRPr/>
            </a:pPr>
            <a:endParaRPr lang="en-US">
              <a:solidFill>
                <a:prstClr val="white"/>
              </a:solidFill>
              <a:latin typeface="Bierstad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7377273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601">
              <a:defRPr/>
            </a:pPr>
            <a:endParaRPr lang="en-US">
              <a:solidFill>
                <a:prstClr val="white"/>
              </a:solidFill>
              <a:latin typeface="Bierstad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8EE996-2093-D8D3-BAD2-6A517F96F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091" y="8283563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s-419" sz="4401" dirty="0" err="1"/>
              <a:t>Facturacion</a:t>
            </a:r>
            <a:r>
              <a:rPr lang="es-419" sz="4401" dirty="0"/>
              <a:t> </a:t>
            </a:r>
            <a:r>
              <a:rPr lang="es-419" sz="4401" dirty="0" err="1"/>
              <a:t>Electronica</a:t>
            </a:r>
            <a:endParaRPr lang="es-419" sz="440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83387-E4F6-9852-06C9-27E5777EE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7384" y="8313047"/>
            <a:ext cx="3355310" cy="960120"/>
          </a:xfrm>
        </p:spPr>
        <p:txBody>
          <a:bodyPr anchor="ctr">
            <a:normAutofit/>
          </a:bodyPr>
          <a:lstStyle/>
          <a:p>
            <a:pPr algn="r"/>
            <a:r>
              <a:rPr lang="es-419" sz="1899" dirty="0"/>
              <a:t>Actores</a:t>
            </a:r>
          </a:p>
        </p:txBody>
      </p:sp>
      <p:pic>
        <p:nvPicPr>
          <p:cNvPr id="1038" name="Picture 14" descr="Receptor - Iconos gratis de envío y entrega">
            <a:extLst>
              <a:ext uri="{FF2B5EF4-FFF2-40B4-BE49-F238E27FC236}">
                <a16:creationId xmlns:a16="http://schemas.microsoft.com/office/drawing/2014/main" id="{3838C775-4443-FEDF-A5A3-70D98A618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94415" y="1688676"/>
            <a:ext cx="1244501" cy="12445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00280F3-09EB-84C8-E3E4-7BCA30B430B9}"/>
              </a:ext>
            </a:extLst>
          </p:cNvPr>
          <p:cNvGrpSpPr/>
          <p:nvPr/>
        </p:nvGrpSpPr>
        <p:grpSpPr>
          <a:xfrm>
            <a:off x="5046000" y="1882570"/>
            <a:ext cx="1781690" cy="2768095"/>
            <a:chOff x="5567339" y="171906"/>
            <a:chExt cx="1781690" cy="2768095"/>
          </a:xfrm>
        </p:grpSpPr>
        <p:pic>
          <p:nvPicPr>
            <p:cNvPr id="1036" name="Picture 12" descr="Download Odoo Implementation - Erp Odoo PNG Image with No Background -  PNGkey.com">
              <a:extLst>
                <a:ext uri="{FF2B5EF4-FFF2-40B4-BE49-F238E27FC236}">
                  <a16:creationId xmlns:a16="http://schemas.microsoft.com/office/drawing/2014/main" id="{71B30E65-6832-8E5B-417D-5D66C180AF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7339" y="171906"/>
              <a:ext cx="1781690" cy="1571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05141AF-3FCB-1637-BE85-FADD50146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723476" y="1874977"/>
              <a:ext cx="550180" cy="55018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EEA1363-140B-FF8C-2093-AB9202444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484562" y="1874976"/>
              <a:ext cx="550181" cy="550181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8E54E7-87BB-78C1-1B1C-F11FF7EBEE61}"/>
                </a:ext>
              </a:extLst>
            </p:cNvPr>
            <p:cNvSpPr/>
            <p:nvPr/>
          </p:nvSpPr>
          <p:spPr>
            <a:xfrm>
              <a:off x="5629633" y="2355135"/>
              <a:ext cx="797013" cy="58464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dirty="0">
                  <a:ln w="0"/>
                  <a:solidFill>
                    <a:srgbClr val="1DA7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Jabiya</a:t>
              </a:r>
              <a:br>
                <a:rPr lang="en-US" dirty="0">
                  <a:ln w="0"/>
                  <a:solidFill>
                    <a:srgbClr val="1DA7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</a:br>
              <a:r>
                <a:rPr lang="en-US" sz="1399" dirty="0" err="1">
                  <a:ln w="0"/>
                  <a:solidFill>
                    <a:srgbClr val="1DA7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Emisor</a:t>
              </a:r>
              <a:endParaRPr lang="en-US" dirty="0">
                <a:ln w="0"/>
                <a:solidFill>
                  <a:srgbClr val="1DA7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F830F90-462A-2C1A-CC57-36C3D1271EF1}"/>
                </a:ext>
              </a:extLst>
            </p:cNvPr>
            <p:cNvSpPr/>
            <p:nvPr/>
          </p:nvSpPr>
          <p:spPr>
            <a:xfrm>
              <a:off x="6448637" y="2355354"/>
              <a:ext cx="797012" cy="58464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dirty="0">
                  <a:ln w="0"/>
                  <a:solidFill>
                    <a:srgbClr val="014F8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FLAI</a:t>
              </a:r>
              <a:br>
                <a:rPr lang="en-US" dirty="0">
                  <a:ln w="0"/>
                  <a:solidFill>
                    <a:srgbClr val="014F8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</a:br>
              <a:r>
                <a:rPr lang="en-US" sz="1399" dirty="0" err="1">
                  <a:ln w="0"/>
                  <a:solidFill>
                    <a:srgbClr val="014F8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Emisor</a:t>
              </a:r>
              <a:endParaRPr lang="en-US" dirty="0">
                <a:ln w="0"/>
                <a:solidFill>
                  <a:srgbClr val="014F8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8E126E8-4BFF-944E-CDB7-62421BA43E3B}"/>
              </a:ext>
            </a:extLst>
          </p:cNvPr>
          <p:cNvSpPr/>
          <p:nvPr/>
        </p:nvSpPr>
        <p:spPr>
          <a:xfrm>
            <a:off x="4787944" y="1236241"/>
            <a:ext cx="2211053" cy="64620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99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Proveedor</a:t>
            </a:r>
            <a:endParaRPr lang="en-US" sz="3599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79313F-F826-527B-0805-01CF7DF88C4C}"/>
              </a:ext>
            </a:extLst>
          </p:cNvPr>
          <p:cNvSpPr/>
          <p:nvPr/>
        </p:nvSpPr>
        <p:spPr>
          <a:xfrm>
            <a:off x="829376" y="2787520"/>
            <a:ext cx="2009846" cy="64620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599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Receptor</a:t>
            </a:r>
          </a:p>
        </p:txBody>
      </p:sp>
      <p:pic>
        <p:nvPicPr>
          <p:cNvPr id="24" name="Picture 23" descr="A blue store with a dollar sign&#10;&#10;AI-generated content may be incorrect.">
            <a:extLst>
              <a:ext uri="{FF2B5EF4-FFF2-40B4-BE49-F238E27FC236}">
                <a16:creationId xmlns:a16="http://schemas.microsoft.com/office/drawing/2014/main" id="{D612CE6C-F137-FCD0-B6B1-A565FCF3AE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569" y="3448222"/>
            <a:ext cx="550180" cy="55018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CB477D9-F43A-D3B3-C460-7912B54F1156}"/>
              </a:ext>
            </a:extLst>
          </p:cNvPr>
          <p:cNvSpPr/>
          <p:nvPr/>
        </p:nvSpPr>
        <p:spPr>
          <a:xfrm>
            <a:off x="1327260" y="3912385"/>
            <a:ext cx="1112805" cy="58464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 err="1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Colmado</a:t>
            </a:r>
            <a:br>
              <a:rPr lang="en-US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399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Receptor</a:t>
            </a:r>
            <a:endParaRPr lang="en-US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48" name="Picture 24" descr="DGII Móvil - Aplicaciones en Google Play">
            <a:extLst>
              <a:ext uri="{FF2B5EF4-FFF2-40B4-BE49-F238E27FC236}">
                <a16:creationId xmlns:a16="http://schemas.microsoft.com/office/drawing/2014/main" id="{7B85736E-56AD-A70C-B137-A2237B334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5592" y="1643187"/>
            <a:ext cx="2934988" cy="1467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2459344-2DCA-9577-9E78-BC5CBB5A3552}"/>
              </a:ext>
            </a:extLst>
          </p:cNvPr>
          <p:cNvSpPr/>
          <p:nvPr/>
        </p:nvSpPr>
        <p:spPr>
          <a:xfrm>
            <a:off x="9499891" y="3110683"/>
            <a:ext cx="970137" cy="58464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199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DGII</a:t>
            </a:r>
          </a:p>
        </p:txBody>
      </p:sp>
      <p:pic>
        <p:nvPicPr>
          <p:cNvPr id="1050" name="Picture 26" descr="Qué es el sistema de facturación electrónica? - Dextra">
            <a:extLst>
              <a:ext uri="{FF2B5EF4-FFF2-40B4-BE49-F238E27FC236}">
                <a16:creationId xmlns:a16="http://schemas.microsoft.com/office/drawing/2014/main" id="{A426B8CA-D40D-875A-CE23-9501C9AC2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677" y="3998403"/>
            <a:ext cx="2923415" cy="281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07612CE-E059-8645-0E64-09DACE7FF6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9307" y="4282968"/>
            <a:ext cx="2387626" cy="253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22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DGII Móvil - Aplicaciones en Google Play">
            <a:extLst>
              <a:ext uri="{FF2B5EF4-FFF2-40B4-BE49-F238E27FC236}">
                <a16:creationId xmlns:a16="http://schemas.microsoft.com/office/drawing/2014/main" id="{30F00FEC-0F9F-586F-EFBE-6D83F87534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1" t="9998" r="28374" b="11465"/>
          <a:stretch>
            <a:fillRect/>
          </a:stretch>
        </p:blipFill>
        <p:spPr bwMode="auto">
          <a:xfrm>
            <a:off x="6096002" y="1079468"/>
            <a:ext cx="814526" cy="76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store with a dollar sign&#10;&#10;AI-generated content may be incorrect.">
            <a:extLst>
              <a:ext uri="{FF2B5EF4-FFF2-40B4-BE49-F238E27FC236}">
                <a16:creationId xmlns:a16="http://schemas.microsoft.com/office/drawing/2014/main" id="{08BEAB9D-8161-B8DD-FA8A-2DA84007E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72" y="1119046"/>
            <a:ext cx="550180" cy="55018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D6BAA1-775F-13F8-BAA7-321361B66639}"/>
              </a:ext>
            </a:extLst>
          </p:cNvPr>
          <p:cNvCxnSpPr>
            <a:stCxn id="8" idx="2"/>
          </p:cNvCxnSpPr>
          <p:nvPr/>
        </p:nvCxnSpPr>
        <p:spPr>
          <a:xfrm>
            <a:off x="1056758" y="1669224"/>
            <a:ext cx="0" cy="38005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5F9F829-70A1-5FF9-6163-1D93FE3E2614}"/>
              </a:ext>
            </a:extLst>
          </p:cNvPr>
          <p:cNvCxnSpPr>
            <a:cxnSpLocks/>
          </p:cNvCxnSpPr>
          <p:nvPr/>
        </p:nvCxnSpPr>
        <p:spPr>
          <a:xfrm>
            <a:off x="3815893" y="1961915"/>
            <a:ext cx="63188" cy="65336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ABB5CB-6927-6E7E-F0E5-1CFA080FD0F4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503261" y="1843481"/>
            <a:ext cx="0" cy="64617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60C1AFE-0505-5EE7-DEBA-3E1A6630CEAB}"/>
              </a:ext>
            </a:extLst>
          </p:cNvPr>
          <p:cNvSpPr txBox="1"/>
          <p:nvPr/>
        </p:nvSpPr>
        <p:spPr>
          <a:xfrm flipH="1">
            <a:off x="4104529" y="1961917"/>
            <a:ext cx="1243763" cy="41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049" dirty="0"/>
              <a:t>Carga Certificado Digital Jabiya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07C9B0B-673F-6AB9-2B20-2700FCEF453E}"/>
              </a:ext>
            </a:extLst>
          </p:cNvPr>
          <p:cNvCxnSpPr>
            <a:cxnSpLocks/>
            <a:stCxn id="35" idx="3"/>
          </p:cNvCxnSpPr>
          <p:nvPr/>
        </p:nvCxnSpPr>
        <p:spPr>
          <a:xfrm flipH="1">
            <a:off x="3815894" y="2169539"/>
            <a:ext cx="288635" cy="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A04F270-8D25-6E5D-F6A5-701C24D0F73D}"/>
              </a:ext>
            </a:extLst>
          </p:cNvPr>
          <p:cNvCxnSpPr/>
          <p:nvPr/>
        </p:nvCxnSpPr>
        <p:spPr>
          <a:xfrm>
            <a:off x="1056761" y="2377412"/>
            <a:ext cx="27591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C057631-5BE9-5202-3807-6402E5E27576}"/>
              </a:ext>
            </a:extLst>
          </p:cNvPr>
          <p:cNvSpPr txBox="1"/>
          <p:nvPr/>
        </p:nvSpPr>
        <p:spPr>
          <a:xfrm flipH="1">
            <a:off x="1079465" y="2099994"/>
            <a:ext cx="2447575" cy="253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049" dirty="0" err="1"/>
              <a:t>Creacion</a:t>
            </a:r>
            <a:r>
              <a:rPr lang="es-419" sz="1049" dirty="0"/>
              <a:t> de orden durante todo el </a:t>
            </a:r>
            <a:r>
              <a:rPr lang="es-419" sz="1049" dirty="0" err="1"/>
              <a:t>dia</a:t>
            </a:r>
            <a:endParaRPr lang="es-419" sz="1049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71ADDC-8723-994C-E426-BD2B7F9C5776}"/>
              </a:ext>
            </a:extLst>
          </p:cNvPr>
          <p:cNvSpPr txBox="1"/>
          <p:nvPr/>
        </p:nvSpPr>
        <p:spPr>
          <a:xfrm flipH="1">
            <a:off x="4176301" y="2487832"/>
            <a:ext cx="1447071" cy="576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049" dirty="0"/>
              <a:t>Crea </a:t>
            </a:r>
            <a:r>
              <a:rPr lang="es-419" sz="1049" dirty="0" err="1"/>
              <a:t>eCF</a:t>
            </a:r>
            <a:r>
              <a:rPr lang="es-419" sz="1049" dirty="0"/>
              <a:t> (E32) XML y se Firma de manera digital y se guarda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BE36768-53FA-37AA-FBC7-3DB2398E9608}"/>
              </a:ext>
            </a:extLst>
          </p:cNvPr>
          <p:cNvCxnSpPr>
            <a:cxnSpLocks/>
          </p:cNvCxnSpPr>
          <p:nvPr/>
        </p:nvCxnSpPr>
        <p:spPr>
          <a:xfrm flipH="1">
            <a:off x="3815897" y="2754015"/>
            <a:ext cx="4072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30AECD9-807B-E091-2293-733DD5F506A7}"/>
              </a:ext>
            </a:extLst>
          </p:cNvPr>
          <p:cNvGrpSpPr/>
          <p:nvPr/>
        </p:nvGrpSpPr>
        <p:grpSpPr>
          <a:xfrm>
            <a:off x="3851848" y="3404422"/>
            <a:ext cx="2584158" cy="415498"/>
            <a:chOff x="4030483" y="4173984"/>
            <a:chExt cx="2584158" cy="415498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40FB2D4-4E22-85D9-E59D-4B0F604E1199}"/>
                </a:ext>
              </a:extLst>
            </p:cNvPr>
            <p:cNvCxnSpPr/>
            <p:nvPr/>
          </p:nvCxnSpPr>
          <p:spPr>
            <a:xfrm>
              <a:off x="4030483" y="4589482"/>
              <a:ext cx="25841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F6B5BD-1D7E-B326-4399-A215E2B65EE4}"/>
                </a:ext>
              </a:extLst>
            </p:cNvPr>
            <p:cNvSpPr txBox="1"/>
            <p:nvPr/>
          </p:nvSpPr>
          <p:spPr>
            <a:xfrm flipH="1">
              <a:off x="4480789" y="4173984"/>
              <a:ext cx="1836636" cy="4152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049" dirty="0" err="1"/>
                <a:t>Envia</a:t>
              </a:r>
              <a:r>
                <a:rPr lang="es-419" sz="1049" dirty="0"/>
                <a:t> a la DGII XML el RFCE </a:t>
              </a:r>
              <a:r>
                <a:rPr lang="es-US" sz="1049" dirty="0"/>
                <a:t>/</a:t>
              </a:r>
              <a:r>
                <a:rPr lang="es-US" sz="1049" dirty="0" err="1"/>
                <a:t>recepcionfc</a:t>
              </a:r>
              <a:endParaRPr lang="es-419" sz="1049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701C1A9-86F4-29C2-90D4-C95638885B29}"/>
              </a:ext>
            </a:extLst>
          </p:cNvPr>
          <p:cNvGrpSpPr/>
          <p:nvPr/>
        </p:nvGrpSpPr>
        <p:grpSpPr>
          <a:xfrm>
            <a:off x="3834118" y="3981376"/>
            <a:ext cx="2650935" cy="258148"/>
            <a:chOff x="4008736" y="4656349"/>
            <a:chExt cx="2650935" cy="258148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BEAA657-18A8-DA96-8145-DE764B6E4049}"/>
                </a:ext>
              </a:extLst>
            </p:cNvPr>
            <p:cNvCxnSpPr/>
            <p:nvPr/>
          </p:nvCxnSpPr>
          <p:spPr>
            <a:xfrm flipH="1">
              <a:off x="4008736" y="4914497"/>
              <a:ext cx="265093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A5669F2-D0A4-0CC1-D342-47A4CC73544F}"/>
                </a:ext>
              </a:extLst>
            </p:cNvPr>
            <p:cNvSpPr txBox="1"/>
            <p:nvPr/>
          </p:nvSpPr>
          <p:spPr>
            <a:xfrm flipH="1">
              <a:off x="4332706" y="4656349"/>
              <a:ext cx="1662010" cy="253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049" dirty="0"/>
                <a:t>Retorna </a:t>
              </a:r>
              <a:r>
                <a:rPr lang="es-419" sz="1049" dirty="0" err="1"/>
                <a:t>Track</a:t>
              </a:r>
              <a:r>
                <a:rPr lang="es-419" sz="1049" dirty="0"/>
                <a:t> Id y Estado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2B9E007-1AC3-C5DD-B14B-9A1DA2AC3A57}"/>
              </a:ext>
            </a:extLst>
          </p:cNvPr>
          <p:cNvSpPr txBox="1"/>
          <p:nvPr/>
        </p:nvSpPr>
        <p:spPr>
          <a:xfrm flipH="1">
            <a:off x="1358975" y="2628784"/>
            <a:ext cx="1888556" cy="41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049" dirty="0"/>
              <a:t>Entrega </a:t>
            </a:r>
            <a:r>
              <a:rPr lang="es-419" sz="1049" dirty="0" err="1"/>
              <a:t>Representacion</a:t>
            </a:r>
            <a:r>
              <a:rPr lang="es-419" sz="1049" dirty="0"/>
              <a:t> Impresa (RI)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0242796-5544-A2C9-9276-EEE5F97275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0805" y="1386789"/>
            <a:ext cx="550180" cy="55018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CD2FA4C-F52A-EEA7-0816-41D4DC87F7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140" y="1184200"/>
            <a:ext cx="550180" cy="550180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C7E6D6E-AC8E-5314-C8B1-686F90D665C0}"/>
              </a:ext>
            </a:extLst>
          </p:cNvPr>
          <p:cNvCxnSpPr>
            <a:cxnSpLocks/>
          </p:cNvCxnSpPr>
          <p:nvPr/>
        </p:nvCxnSpPr>
        <p:spPr>
          <a:xfrm>
            <a:off x="8362436" y="1734380"/>
            <a:ext cx="0" cy="65708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80264DA-25B3-5973-488C-1B93E1A63D79}"/>
              </a:ext>
            </a:extLst>
          </p:cNvPr>
          <p:cNvGrpSpPr/>
          <p:nvPr/>
        </p:nvGrpSpPr>
        <p:grpSpPr>
          <a:xfrm>
            <a:off x="8476288" y="1914523"/>
            <a:ext cx="1532398" cy="415242"/>
            <a:chOff x="8520282" y="3610529"/>
            <a:chExt cx="1532396" cy="415240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3F4B418-1BB6-011B-48A5-28E956CFBC6A}"/>
                </a:ext>
              </a:extLst>
            </p:cNvPr>
            <p:cNvSpPr txBox="1"/>
            <p:nvPr/>
          </p:nvSpPr>
          <p:spPr>
            <a:xfrm flipH="1">
              <a:off x="8808915" y="3610529"/>
              <a:ext cx="1243763" cy="415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049" dirty="0"/>
                <a:t>Carga Certificado Digital FLAI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C460DFF-2975-7930-57C5-3461C4A0E224}"/>
                </a:ext>
              </a:extLst>
            </p:cNvPr>
            <p:cNvCxnSpPr>
              <a:cxnSpLocks/>
              <a:stCxn id="66" idx="3"/>
            </p:cNvCxnSpPr>
            <p:nvPr/>
          </p:nvCxnSpPr>
          <p:spPr>
            <a:xfrm flipH="1" flipV="1">
              <a:off x="8520282" y="3816095"/>
              <a:ext cx="288633" cy="20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048BDE4-9D37-5DE0-749C-E92FDF8FFD7B}"/>
              </a:ext>
            </a:extLst>
          </p:cNvPr>
          <p:cNvCxnSpPr/>
          <p:nvPr/>
        </p:nvCxnSpPr>
        <p:spPr>
          <a:xfrm flipH="1">
            <a:off x="1056761" y="3064911"/>
            <a:ext cx="27591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823D7A8-B699-DC48-46CA-5B8CF0ED6FE1}"/>
              </a:ext>
            </a:extLst>
          </p:cNvPr>
          <p:cNvGrpSpPr/>
          <p:nvPr/>
        </p:nvGrpSpPr>
        <p:grpSpPr>
          <a:xfrm>
            <a:off x="3852334" y="3054910"/>
            <a:ext cx="1495960" cy="415242"/>
            <a:chOff x="4026954" y="3839616"/>
            <a:chExt cx="1495959" cy="415240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108F15D-69B3-7E20-BF7F-A12088D68B74}"/>
                </a:ext>
              </a:extLst>
            </p:cNvPr>
            <p:cNvSpPr txBox="1"/>
            <p:nvPr/>
          </p:nvSpPr>
          <p:spPr>
            <a:xfrm flipH="1">
              <a:off x="4279149" y="3839616"/>
              <a:ext cx="1243764" cy="415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049" dirty="0"/>
                <a:t>Generar un RFCE al final del </a:t>
              </a:r>
              <a:r>
                <a:rPr lang="es-419" sz="1049" dirty="0" err="1"/>
                <a:t>dia</a:t>
              </a:r>
              <a:endParaRPr lang="es-419" sz="1049" dirty="0"/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E78B1758-FF2F-927E-EDA1-C770F88249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6954" y="4013352"/>
              <a:ext cx="2886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E5F6D698-BE4D-8546-6DC6-FC86EA002DA0}"/>
              </a:ext>
            </a:extLst>
          </p:cNvPr>
          <p:cNvGrpSpPr/>
          <p:nvPr/>
        </p:nvGrpSpPr>
        <p:grpSpPr>
          <a:xfrm>
            <a:off x="9472445" y="328128"/>
            <a:ext cx="2377791" cy="1341096"/>
            <a:chOff x="9472445" y="328128"/>
            <a:chExt cx="2377791" cy="1341096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95CB56E4-253A-E31B-728F-8BE229CF7832}"/>
                </a:ext>
              </a:extLst>
            </p:cNvPr>
            <p:cNvGrpSpPr/>
            <p:nvPr/>
          </p:nvGrpSpPr>
          <p:grpSpPr>
            <a:xfrm>
              <a:off x="9472445" y="328128"/>
              <a:ext cx="2377791" cy="1341096"/>
              <a:chOff x="9723266" y="885796"/>
              <a:chExt cx="2377790" cy="134109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E11448D0-F79B-CB3C-7C47-1976AC6281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875985" y="885797"/>
                <a:ext cx="550180" cy="55018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AD28C29-577C-EC97-9841-A16ED37A1E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637070" y="885796"/>
                <a:ext cx="550181" cy="550181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C2564B3-9283-E098-62FF-2B0BB2A7A132}"/>
                  </a:ext>
                </a:extLst>
              </p:cNvPr>
              <p:cNvSpPr/>
              <p:nvPr/>
            </p:nvSpPr>
            <p:spPr>
              <a:xfrm>
                <a:off x="9723266" y="1811651"/>
                <a:ext cx="855618" cy="41524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1049" dirty="0" err="1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Certificado</a:t>
                </a:r>
                <a:r>
                  <a:rPr lang="en-US" sz="1049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Digital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BF3CE69-9C42-092F-0BCA-340066CDC453}"/>
                  </a:ext>
                </a:extLst>
              </p:cNvPr>
              <p:cNvSpPr/>
              <p:nvPr/>
            </p:nvSpPr>
            <p:spPr>
              <a:xfrm>
                <a:off x="10484353" y="1811651"/>
                <a:ext cx="855618" cy="41524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1049" dirty="0" err="1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Certificado</a:t>
                </a:r>
                <a:r>
                  <a:rPr lang="en-US" sz="1049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Digital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BE6B57E8-145B-6C26-CAEB-838AB04BF9AD}"/>
                  </a:ext>
                </a:extLst>
              </p:cNvPr>
              <p:cNvCxnSpPr>
                <a:stCxn id="13" idx="2"/>
                <a:endCxn id="16" idx="0"/>
              </p:cNvCxnSpPr>
              <p:nvPr/>
            </p:nvCxnSpPr>
            <p:spPr>
              <a:xfrm>
                <a:off x="10151075" y="1435977"/>
                <a:ext cx="0" cy="3756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EDFC1DBE-9B65-2CDF-6132-A5F2BC13439A}"/>
                  </a:ext>
                </a:extLst>
              </p:cNvPr>
              <p:cNvCxnSpPr/>
              <p:nvPr/>
            </p:nvCxnSpPr>
            <p:spPr>
              <a:xfrm>
                <a:off x="10912160" y="1485978"/>
                <a:ext cx="0" cy="3756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F1BDCE71-A18A-B1FF-EA5D-1FB934A0D097}"/>
                  </a:ext>
                </a:extLst>
              </p:cNvPr>
              <p:cNvSpPr/>
              <p:nvPr/>
            </p:nvSpPr>
            <p:spPr>
              <a:xfrm>
                <a:off x="11245438" y="1811651"/>
                <a:ext cx="855618" cy="41524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1049" dirty="0" err="1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Certificado</a:t>
                </a:r>
                <a:r>
                  <a:rPr lang="en-US" sz="1049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Digital</a:t>
                </a:r>
              </a:p>
            </p:txBody>
          </p: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C1556DE9-D0B5-9112-4B1F-2720E9D75CEB}"/>
                  </a:ext>
                </a:extLst>
              </p:cNvPr>
              <p:cNvCxnSpPr/>
              <p:nvPr/>
            </p:nvCxnSpPr>
            <p:spPr>
              <a:xfrm>
                <a:off x="11673246" y="1485978"/>
                <a:ext cx="0" cy="3756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3AF72F4-76F0-FA88-07E8-8B3DB184B14B}"/>
                </a:ext>
              </a:extLst>
            </p:cNvPr>
            <p:cNvSpPr/>
            <p:nvPr/>
          </p:nvSpPr>
          <p:spPr>
            <a:xfrm>
              <a:off x="11125263" y="328129"/>
              <a:ext cx="567497" cy="55018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1399" dirty="0"/>
                <a:t>EXO</a:t>
              </a:r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E7A83EBB-E18E-A960-B1F8-D40E15196857}"/>
              </a:ext>
            </a:extLst>
          </p:cNvPr>
          <p:cNvSpPr/>
          <p:nvPr/>
        </p:nvSpPr>
        <p:spPr>
          <a:xfrm>
            <a:off x="8432695" y="1186385"/>
            <a:ext cx="550180" cy="54799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399" dirty="0"/>
              <a:t>EXO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D63EDCC-7576-DBF3-F627-5AD9D99570AC}"/>
              </a:ext>
            </a:extLst>
          </p:cNvPr>
          <p:cNvGrpSpPr/>
          <p:nvPr/>
        </p:nvGrpSpPr>
        <p:grpSpPr>
          <a:xfrm>
            <a:off x="3848854" y="4463241"/>
            <a:ext cx="4513586" cy="415498"/>
            <a:chOff x="4030483" y="4173984"/>
            <a:chExt cx="4513587" cy="415498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6C9D6EB0-0933-0B3B-4B78-993858AC49F3}"/>
                </a:ext>
              </a:extLst>
            </p:cNvPr>
            <p:cNvCxnSpPr>
              <a:cxnSpLocks/>
            </p:cNvCxnSpPr>
            <p:nvPr/>
          </p:nvCxnSpPr>
          <p:spPr>
            <a:xfrm>
              <a:off x="4030483" y="4589482"/>
              <a:ext cx="45135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5746A15-3A3D-8951-AE20-F3C5C5FFEEB1}"/>
                </a:ext>
              </a:extLst>
            </p:cNvPr>
            <p:cNvSpPr txBox="1"/>
            <p:nvPr/>
          </p:nvSpPr>
          <p:spPr>
            <a:xfrm flipH="1">
              <a:off x="4480790" y="4173984"/>
              <a:ext cx="1836637" cy="4152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049" dirty="0" err="1"/>
                <a:t>Envia</a:t>
              </a:r>
              <a:r>
                <a:rPr lang="es-419" sz="1049" dirty="0"/>
                <a:t> el Comprobante a FLAI de manera interna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7375114-203D-5F0B-B635-E35062B27841}"/>
              </a:ext>
            </a:extLst>
          </p:cNvPr>
          <p:cNvGrpSpPr/>
          <p:nvPr/>
        </p:nvGrpSpPr>
        <p:grpSpPr>
          <a:xfrm>
            <a:off x="8378276" y="4955513"/>
            <a:ext cx="1647557" cy="576696"/>
            <a:chOff x="8451105" y="3701522"/>
            <a:chExt cx="1647557" cy="576694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ABDBDC7-72A4-6B6A-19E4-C6368E8F3E87}"/>
                </a:ext>
              </a:extLst>
            </p:cNvPr>
            <p:cNvSpPr txBox="1"/>
            <p:nvPr/>
          </p:nvSpPr>
          <p:spPr>
            <a:xfrm flipH="1">
              <a:off x="8854899" y="3701522"/>
              <a:ext cx="1243763" cy="576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049" dirty="0"/>
                <a:t>Crea el XML y Firma de manera digital (</a:t>
              </a:r>
              <a:r>
                <a:rPr lang="es-419" sz="1049" dirty="0" err="1"/>
                <a:t>eCF</a:t>
              </a:r>
              <a:r>
                <a:rPr lang="es-419" sz="1049" dirty="0"/>
                <a:t> 31)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2577090C-58A5-112D-014E-132B7E9D142A}"/>
                </a:ext>
              </a:extLst>
            </p:cNvPr>
            <p:cNvCxnSpPr>
              <a:cxnSpLocks/>
              <a:stCxn id="95" idx="3"/>
            </p:cNvCxnSpPr>
            <p:nvPr/>
          </p:nvCxnSpPr>
          <p:spPr>
            <a:xfrm flipH="1">
              <a:off x="8451105" y="3989869"/>
              <a:ext cx="403794" cy="1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D3D22B0-F74A-14D1-A1C4-F976D9D46E61}"/>
              </a:ext>
            </a:extLst>
          </p:cNvPr>
          <p:cNvGrpSpPr/>
          <p:nvPr/>
        </p:nvGrpSpPr>
        <p:grpSpPr>
          <a:xfrm>
            <a:off x="6503270" y="5532564"/>
            <a:ext cx="1836115" cy="263784"/>
            <a:chOff x="4823555" y="4650712"/>
            <a:chExt cx="1836116" cy="263785"/>
          </a:xfrm>
        </p:grpSpPr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BE1E46E2-6DED-397A-5174-D33BB0624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3555" y="4914497"/>
              <a:ext cx="18361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7D18116-06A8-3629-A60D-5A7A3FAEA489}"/>
                </a:ext>
              </a:extLst>
            </p:cNvPr>
            <p:cNvSpPr txBox="1"/>
            <p:nvPr/>
          </p:nvSpPr>
          <p:spPr>
            <a:xfrm flipH="1">
              <a:off x="4841770" y="4650712"/>
              <a:ext cx="1662010" cy="253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049" dirty="0" err="1"/>
                <a:t>Envia</a:t>
              </a:r>
              <a:r>
                <a:rPr lang="es-419" sz="1049" dirty="0"/>
                <a:t> a la DGII un </a:t>
              </a:r>
              <a:r>
                <a:rPr lang="es-419" sz="1049" dirty="0" err="1"/>
                <a:t>eCF</a:t>
              </a:r>
              <a:endParaRPr lang="es-419" sz="1049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86DAB74-ABC4-444E-7489-03F68FBE838A}"/>
              </a:ext>
            </a:extLst>
          </p:cNvPr>
          <p:cNvGrpSpPr/>
          <p:nvPr/>
        </p:nvGrpSpPr>
        <p:grpSpPr>
          <a:xfrm flipH="1">
            <a:off x="6520103" y="5956620"/>
            <a:ext cx="1847243" cy="315227"/>
            <a:chOff x="3941329" y="4645677"/>
            <a:chExt cx="2638175" cy="264588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1DE28847-49AF-2E47-F461-355F3D43E9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1329" y="4910265"/>
              <a:ext cx="26381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B8E5BEE-8581-37BD-3AC4-1C64FA28B779}"/>
                </a:ext>
              </a:extLst>
            </p:cNvPr>
            <p:cNvSpPr txBox="1"/>
            <p:nvPr/>
          </p:nvSpPr>
          <p:spPr>
            <a:xfrm flipH="1">
              <a:off x="4036179" y="4645677"/>
              <a:ext cx="2543320" cy="213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049" dirty="0"/>
                <a:t>Retorna </a:t>
              </a:r>
              <a:r>
                <a:rPr lang="es-419" sz="1049" dirty="0" err="1"/>
                <a:t>Track</a:t>
              </a:r>
              <a:r>
                <a:rPr lang="es-419" sz="1049" dirty="0"/>
                <a:t> Id y Estado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C68EF04-5BFC-65B2-5CEC-43E17831CBE3}"/>
              </a:ext>
            </a:extLst>
          </p:cNvPr>
          <p:cNvGrpSpPr/>
          <p:nvPr/>
        </p:nvGrpSpPr>
        <p:grpSpPr>
          <a:xfrm>
            <a:off x="3833116" y="7143577"/>
            <a:ext cx="4513494" cy="253917"/>
            <a:chOff x="2146177" y="4660580"/>
            <a:chExt cx="4513494" cy="253917"/>
          </a:xfrm>
        </p:grpSpPr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539750D0-52FD-C4D4-2141-BC75C241AF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46177" y="4914497"/>
              <a:ext cx="4513494" cy="0"/>
            </a:xfrm>
            <a:prstGeom prst="straightConnector1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E015613-BDCD-535B-59BA-9117346EC88D}"/>
                </a:ext>
              </a:extLst>
            </p:cNvPr>
            <p:cNvSpPr txBox="1"/>
            <p:nvPr/>
          </p:nvSpPr>
          <p:spPr>
            <a:xfrm flipH="1">
              <a:off x="3084063" y="4660580"/>
              <a:ext cx="1662010" cy="253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049" dirty="0"/>
                <a:t>Acuse de Recibo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593269B-BBD1-85A8-0C27-C31E0AFA7101}"/>
              </a:ext>
            </a:extLst>
          </p:cNvPr>
          <p:cNvGrpSpPr/>
          <p:nvPr/>
        </p:nvGrpSpPr>
        <p:grpSpPr>
          <a:xfrm>
            <a:off x="3882505" y="6733903"/>
            <a:ext cx="4466464" cy="263784"/>
            <a:chOff x="2193207" y="4650712"/>
            <a:chExt cx="4466464" cy="263785"/>
          </a:xfrm>
        </p:grpSpPr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5E536F8D-B0E6-AFF6-3CC0-5E0F1E49E9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3207" y="4914497"/>
              <a:ext cx="44664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B62EB47D-C73F-5C4A-7E71-4B496B7F8AA9}"/>
                </a:ext>
              </a:extLst>
            </p:cNvPr>
            <p:cNvSpPr txBox="1"/>
            <p:nvPr/>
          </p:nvSpPr>
          <p:spPr>
            <a:xfrm flipH="1">
              <a:off x="4841772" y="4650712"/>
              <a:ext cx="1662010" cy="253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049" dirty="0" err="1"/>
                <a:t>Envia</a:t>
              </a:r>
              <a:r>
                <a:rPr lang="es-419" sz="1049" dirty="0"/>
                <a:t> el </a:t>
              </a:r>
              <a:r>
                <a:rPr lang="es-419" sz="1049" dirty="0" err="1"/>
                <a:t>eCF</a:t>
              </a:r>
              <a:r>
                <a:rPr lang="es-419" sz="1049" dirty="0"/>
                <a:t> </a:t>
              </a:r>
            </a:p>
          </p:txBody>
        </p:sp>
      </p:grp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A95CC0E-A14F-928D-15DF-3DFC6CDD11F5}"/>
              </a:ext>
            </a:extLst>
          </p:cNvPr>
          <p:cNvCxnSpPr>
            <a:cxnSpLocks/>
          </p:cNvCxnSpPr>
          <p:nvPr/>
        </p:nvCxnSpPr>
        <p:spPr>
          <a:xfrm>
            <a:off x="8059920" y="7393422"/>
            <a:ext cx="2886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74AE0E1-1388-429C-8002-839D03D5378A}"/>
              </a:ext>
            </a:extLst>
          </p:cNvPr>
          <p:cNvGrpSpPr/>
          <p:nvPr/>
        </p:nvGrpSpPr>
        <p:grpSpPr>
          <a:xfrm>
            <a:off x="3853850" y="7618234"/>
            <a:ext cx="4513494" cy="258070"/>
            <a:chOff x="3897847" y="9314238"/>
            <a:chExt cx="4513494" cy="258069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9ADD4B34-701B-DE65-C687-6B81E19C1843}"/>
                </a:ext>
              </a:extLst>
            </p:cNvPr>
            <p:cNvGrpSpPr/>
            <p:nvPr/>
          </p:nvGrpSpPr>
          <p:grpSpPr>
            <a:xfrm>
              <a:off x="3897847" y="9314238"/>
              <a:ext cx="4513494" cy="253917"/>
              <a:chOff x="2146177" y="4660580"/>
              <a:chExt cx="4513494" cy="253917"/>
            </a:xfrm>
          </p:grpSpPr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BBCC9A2D-BE3A-04B3-0933-8EB26804BE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46177" y="4914497"/>
                <a:ext cx="4513494" cy="0"/>
              </a:xfrm>
              <a:prstGeom prst="straightConnector1">
                <a:avLst/>
              </a:prstGeom>
              <a:ln w="19050" cap="flat" cmpd="sng" algn="ctr">
                <a:solidFill>
                  <a:schemeClr val="accent4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7F3AC467-02B5-E206-4A27-69C20D6EE9B6}"/>
                  </a:ext>
                </a:extLst>
              </p:cNvPr>
              <p:cNvSpPr txBox="1"/>
              <p:nvPr/>
            </p:nvSpPr>
            <p:spPr>
              <a:xfrm flipH="1">
                <a:off x="3084063" y="4660580"/>
                <a:ext cx="1662010" cy="253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419" sz="1049" dirty="0" err="1"/>
                  <a:t>Aprobacion</a:t>
                </a:r>
                <a:r>
                  <a:rPr lang="es-419" sz="1049" dirty="0"/>
                  <a:t> Comercial</a:t>
                </a:r>
              </a:p>
            </p:txBody>
          </p:sp>
        </p:grp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E8976AAA-1709-2BF1-E852-B8E8206FFE78}"/>
                </a:ext>
              </a:extLst>
            </p:cNvPr>
            <p:cNvCxnSpPr>
              <a:cxnSpLocks/>
            </p:cNvCxnSpPr>
            <p:nvPr/>
          </p:nvCxnSpPr>
          <p:spPr>
            <a:xfrm>
              <a:off x="8085227" y="9572306"/>
              <a:ext cx="28863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F60EB7A-4B72-F1C2-D21C-DB3FAFC2B386}"/>
              </a:ext>
            </a:extLst>
          </p:cNvPr>
          <p:cNvGrpSpPr/>
          <p:nvPr/>
        </p:nvGrpSpPr>
        <p:grpSpPr>
          <a:xfrm>
            <a:off x="3848943" y="7997269"/>
            <a:ext cx="2599896" cy="264524"/>
            <a:chOff x="2146177" y="4649973"/>
            <a:chExt cx="2599895" cy="264524"/>
          </a:xfrm>
        </p:grpSpPr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AA06ED85-50EA-5553-0D48-E96A9E0E80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46177" y="4914497"/>
              <a:ext cx="2599895" cy="0"/>
            </a:xfrm>
            <a:prstGeom prst="straightConnector1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687E35E8-550D-9B71-8AEC-98615C6CB858}"/>
                </a:ext>
              </a:extLst>
            </p:cNvPr>
            <p:cNvSpPr txBox="1"/>
            <p:nvPr/>
          </p:nvSpPr>
          <p:spPr>
            <a:xfrm flipH="1">
              <a:off x="2265695" y="4649973"/>
              <a:ext cx="2360857" cy="253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1049" dirty="0" err="1"/>
                <a:t>Notificacion</a:t>
              </a:r>
              <a:r>
                <a:rPr lang="es-419" sz="1049" dirty="0"/>
                <a:t> </a:t>
              </a:r>
              <a:r>
                <a:rPr lang="es-419" sz="1049" dirty="0" err="1"/>
                <a:t>Aprobacion</a:t>
              </a:r>
              <a:r>
                <a:rPr lang="es-419" sz="1049" dirty="0"/>
                <a:t> Comercial</a:t>
              </a:r>
            </a:p>
          </p:txBody>
        </p:sp>
      </p:grp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3240CFD2-6655-B70F-3E58-CE4E6821A488}"/>
              </a:ext>
            </a:extLst>
          </p:cNvPr>
          <p:cNvCxnSpPr>
            <a:cxnSpLocks/>
          </p:cNvCxnSpPr>
          <p:nvPr/>
        </p:nvCxnSpPr>
        <p:spPr>
          <a:xfrm>
            <a:off x="6192781" y="8260326"/>
            <a:ext cx="2886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2" name="Title 1">
            <a:extLst>
              <a:ext uri="{FF2B5EF4-FFF2-40B4-BE49-F238E27FC236}">
                <a16:creationId xmlns:a16="http://schemas.microsoft.com/office/drawing/2014/main" id="{D49C8E8A-B302-067D-CFB8-563C48B9F195}"/>
              </a:ext>
            </a:extLst>
          </p:cNvPr>
          <p:cNvSpPr txBox="1">
            <a:spLocks/>
          </p:cNvSpPr>
          <p:nvPr/>
        </p:nvSpPr>
        <p:spPr>
          <a:xfrm>
            <a:off x="637161" y="-1800102"/>
            <a:ext cx="8178501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3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sz="4401" dirty="0" err="1"/>
              <a:t>Facturacion</a:t>
            </a:r>
            <a:r>
              <a:rPr lang="es-419" sz="4401" dirty="0"/>
              <a:t> </a:t>
            </a:r>
            <a:r>
              <a:rPr lang="es-419" sz="4401" dirty="0" err="1"/>
              <a:t>Electronica</a:t>
            </a:r>
            <a:endParaRPr lang="es-419" sz="4401" dirty="0"/>
          </a:p>
        </p:txBody>
      </p:sp>
      <p:sp>
        <p:nvSpPr>
          <p:cNvPr id="150" name="Title 1">
            <a:extLst>
              <a:ext uri="{FF2B5EF4-FFF2-40B4-BE49-F238E27FC236}">
                <a16:creationId xmlns:a16="http://schemas.microsoft.com/office/drawing/2014/main" id="{DD20BD9E-EFB1-35AD-4858-54E8AD3509A6}"/>
              </a:ext>
            </a:extLst>
          </p:cNvPr>
          <p:cNvSpPr txBox="1">
            <a:spLocks/>
          </p:cNvSpPr>
          <p:nvPr/>
        </p:nvSpPr>
        <p:spPr>
          <a:xfrm>
            <a:off x="122432" y="8895391"/>
            <a:ext cx="8178501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601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1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dirty="0"/>
              <a:t>Flujo General de </a:t>
            </a:r>
            <a:r>
              <a:rPr lang="es-419" dirty="0" err="1"/>
              <a:t>eFC</a:t>
            </a:r>
            <a:r>
              <a:rPr lang="es-419" dirty="0"/>
              <a:t> (Flai / Jabiya</a:t>
            </a:r>
          </a:p>
        </p:txBody>
      </p:sp>
    </p:spTree>
    <p:extLst>
      <p:ext uri="{BB962C8B-B14F-4D97-AF65-F5344CB8AC3E}">
        <p14:creationId xmlns:p14="http://schemas.microsoft.com/office/powerpoint/2010/main" val="3126984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DEAC-4263-1D23-F053-AFC2C85D6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07" y="8665578"/>
            <a:ext cx="5714492" cy="8519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419" sz="2800"/>
              <a:t>Como Emisor de eFC</a:t>
            </a:r>
            <a:endParaRPr lang="es-419" sz="2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522B41-7406-1226-B061-C7E942EB628C}"/>
              </a:ext>
            </a:extLst>
          </p:cNvPr>
          <p:cNvSpPr txBox="1">
            <a:spLocks/>
          </p:cNvSpPr>
          <p:nvPr/>
        </p:nvSpPr>
        <p:spPr>
          <a:xfrm>
            <a:off x="6273802" y="8726989"/>
            <a:ext cx="5714492" cy="85198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algn="l" defTabSz="914601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1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419"/>
              <a:t>Como Proveedor Emisor de eFC</a:t>
            </a:r>
            <a:endParaRPr lang="es-419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B3CBAA-BE9D-992C-E567-5896A2739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522" y="1648503"/>
            <a:ext cx="7392559" cy="30377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7747A1-C744-894D-6886-F256CA646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57522" y="4998416"/>
            <a:ext cx="934869" cy="8618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3BA822-A9EF-D504-9E37-97C9B67FE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50762" y="4998414"/>
            <a:ext cx="934871" cy="86188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36B76BD-E5C9-0DC5-891F-ACD668B28CBD}"/>
              </a:ext>
            </a:extLst>
          </p:cNvPr>
          <p:cNvSpPr/>
          <p:nvPr/>
        </p:nvSpPr>
        <p:spPr>
          <a:xfrm>
            <a:off x="3898021" y="6448804"/>
            <a:ext cx="1453871" cy="2537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049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Emisor</a:t>
            </a:r>
            <a:r>
              <a:rPr lang="en-US" sz="104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Electronico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B721F8-7723-DFCA-37D1-A29002C4CC7A}"/>
              </a:ext>
            </a:extLst>
          </p:cNvPr>
          <p:cNvSpPr/>
          <p:nvPr/>
        </p:nvSpPr>
        <p:spPr>
          <a:xfrm>
            <a:off x="5191265" y="6448804"/>
            <a:ext cx="1453871" cy="2537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049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Emisor</a:t>
            </a:r>
            <a:r>
              <a:rPr lang="en-US" sz="104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Electronico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BBCBFD-5C52-BFB4-5C79-64B161CCC0B7}"/>
              </a:ext>
            </a:extLst>
          </p:cNvPr>
          <p:cNvCxnSpPr>
            <a:stCxn id="12" idx="2"/>
            <a:endCxn id="16" idx="0"/>
          </p:cNvCxnSpPr>
          <p:nvPr/>
        </p:nvCxnSpPr>
        <p:spPr>
          <a:xfrm>
            <a:off x="4624957" y="5860296"/>
            <a:ext cx="0" cy="588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FD2F64-9330-4255-8965-13597E2822BA}"/>
              </a:ext>
            </a:extLst>
          </p:cNvPr>
          <p:cNvCxnSpPr/>
          <p:nvPr/>
        </p:nvCxnSpPr>
        <p:spPr>
          <a:xfrm>
            <a:off x="5918197" y="5938624"/>
            <a:ext cx="0" cy="588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B56DA76-B012-E34D-F2D5-4DDC658CF2A9}"/>
              </a:ext>
            </a:extLst>
          </p:cNvPr>
          <p:cNvSpPr/>
          <p:nvPr/>
        </p:nvSpPr>
        <p:spPr>
          <a:xfrm>
            <a:off x="6484505" y="6448804"/>
            <a:ext cx="2151493" cy="2537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049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Proveedor</a:t>
            </a:r>
            <a:r>
              <a:rPr lang="en-US" sz="104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 </a:t>
            </a:r>
            <a:r>
              <a:rPr lang="en-US" sz="1049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Emisor</a:t>
            </a:r>
            <a:r>
              <a:rPr lang="en-US" sz="1049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Electronico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1EE385-883A-EDB1-5BE9-3B10EEF1643A}"/>
              </a:ext>
            </a:extLst>
          </p:cNvPr>
          <p:cNvCxnSpPr/>
          <p:nvPr/>
        </p:nvCxnSpPr>
        <p:spPr>
          <a:xfrm>
            <a:off x="7211439" y="5938624"/>
            <a:ext cx="0" cy="588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6D507EB-4AC1-1A70-2AFC-CE8C0E13E835}"/>
              </a:ext>
            </a:extLst>
          </p:cNvPr>
          <p:cNvSpPr/>
          <p:nvPr/>
        </p:nvSpPr>
        <p:spPr>
          <a:xfrm>
            <a:off x="6706498" y="4998416"/>
            <a:ext cx="964294" cy="86188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399" dirty="0"/>
              <a:t>EXO</a:t>
            </a:r>
          </a:p>
        </p:txBody>
      </p:sp>
    </p:spTree>
    <p:extLst>
      <p:ext uri="{BB962C8B-B14F-4D97-AF65-F5344CB8AC3E}">
        <p14:creationId xmlns:p14="http://schemas.microsoft.com/office/powerpoint/2010/main" val="3791424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21E662-FD35-FF69-FBFE-34396D3D4DA4}"/>
              </a:ext>
            </a:extLst>
          </p:cNvPr>
          <p:cNvSpPr/>
          <p:nvPr/>
        </p:nvSpPr>
        <p:spPr>
          <a:xfrm>
            <a:off x="1472173" y="1363166"/>
            <a:ext cx="8840227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Requisitos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para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solicitar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ser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autorizado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como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emisor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electrónico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232F43-DC9F-5653-A48C-53FC502448BB}"/>
              </a:ext>
            </a:extLst>
          </p:cNvPr>
          <p:cNvSpPr txBox="1"/>
          <p:nvPr/>
        </p:nvSpPr>
        <p:spPr>
          <a:xfrm>
            <a:off x="1015486" y="7172296"/>
            <a:ext cx="9753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Estar inscrito en el Registro Nacional de Contribuyentes (RNC).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b="1" dirty="0"/>
              <a:t>Poseer clave de acceso a la Oficina Virtual (OFV).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Tener autorización para emitir comprobantes fiscales (Alta NCF).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b="1" dirty="0"/>
              <a:t>Disponer de un certificado digital para Procedimiento Tributario, emitido por una prestadora de servicios de confianza (entidad de certificación), que corresponda a la persona que actuará como Usuario Administrador e-CF1.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Disponer de un software para la emisión de Comprobantes Fiscales Electrónicos (e-CF).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Estar al día en el cumplimiento de sus obligaciones tributarias. </a:t>
            </a:r>
            <a:endParaRPr lang="es-419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5C1E78-A98E-D5CC-C07A-35D456FCB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520" y="3116263"/>
            <a:ext cx="7878274" cy="275310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15AA19E-9C32-F02D-CB18-88D8E4408205}"/>
              </a:ext>
            </a:extLst>
          </p:cNvPr>
          <p:cNvSpPr/>
          <p:nvPr/>
        </p:nvSpPr>
        <p:spPr>
          <a:xfrm>
            <a:off x="482479" y="6297853"/>
            <a:ext cx="88402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800" b="1" dirty="0">
                <a:solidFill>
                  <a:schemeClr val="accent6">
                    <a:lumMod val="50000"/>
                  </a:schemeClr>
                </a:solidFill>
              </a:rPr>
              <a:t>Etapa 1</a:t>
            </a:r>
          </a:p>
        </p:txBody>
      </p:sp>
    </p:spTree>
    <p:extLst>
      <p:ext uri="{BB962C8B-B14F-4D97-AF65-F5344CB8AC3E}">
        <p14:creationId xmlns:p14="http://schemas.microsoft.com/office/powerpoint/2010/main" val="2497697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815D5-A671-69C5-06BE-90351AA61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D67CF-D37D-B0C2-87F8-DABF6539AFCC}"/>
              </a:ext>
            </a:extLst>
          </p:cNvPr>
          <p:cNvSpPr/>
          <p:nvPr/>
        </p:nvSpPr>
        <p:spPr>
          <a:xfrm>
            <a:off x="1890365" y="1351740"/>
            <a:ext cx="88402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800" b="1" dirty="0"/>
              <a:t>Poseer clave de acceso a la Oficina Virtual (OFV).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79FE2-0489-C33D-8AD2-350B02DF8A5D}"/>
              </a:ext>
            </a:extLst>
          </p:cNvPr>
          <p:cNvSpPr txBox="1"/>
          <p:nvPr/>
        </p:nvSpPr>
        <p:spPr>
          <a:xfrm>
            <a:off x="537028" y="2585321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🔐 ¿Cómo se obtiene la clave de acceso a la OFV?</a:t>
            </a:r>
          </a:p>
          <a:p>
            <a:pPr>
              <a:buNone/>
            </a:pPr>
            <a:r>
              <a:rPr lang="es-ES" b="1" dirty="0"/>
              <a:t>Depende de si eres:</a:t>
            </a:r>
          </a:p>
          <a:p>
            <a:pPr>
              <a:buNone/>
            </a:pPr>
            <a:r>
              <a:rPr lang="es-ES" b="1" dirty="0"/>
              <a:t>🔹 A. Persona Jurídica (empresa con RNC)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Dirigirse a la DGII (presencialmente)</a:t>
            </a:r>
            <a:r>
              <a:rPr lang="es-E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Cualquier oficina local.</a:t>
            </a:r>
          </a:p>
          <a:p>
            <a:pPr>
              <a:buFont typeface="+mj-lt"/>
              <a:buAutoNum type="arabicPeriod"/>
            </a:pPr>
            <a:r>
              <a:rPr lang="es-ES" dirty="0"/>
              <a:t>Llevar: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Copia del </a:t>
            </a:r>
            <a:r>
              <a:rPr lang="es-ES" b="1" dirty="0"/>
              <a:t>Registro Mercantil</a:t>
            </a:r>
            <a:r>
              <a:rPr lang="es-E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Copia del </a:t>
            </a:r>
            <a:r>
              <a:rPr lang="es-ES" b="1" dirty="0"/>
              <a:t>RNC</a:t>
            </a:r>
            <a:r>
              <a:rPr lang="es-E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Copia de </a:t>
            </a:r>
            <a:r>
              <a:rPr lang="es-ES" b="1" dirty="0"/>
              <a:t>la cédula del representante legal</a:t>
            </a:r>
            <a:r>
              <a:rPr lang="es-E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Poder notarial (si aplica).</a:t>
            </a:r>
          </a:p>
          <a:p>
            <a:pPr>
              <a:buFont typeface="+mj-lt"/>
              <a:buAutoNum type="arabicPeriod"/>
            </a:pPr>
            <a:r>
              <a:rPr lang="es-ES" dirty="0"/>
              <a:t>Solicitar </a:t>
            </a:r>
            <a:r>
              <a:rPr lang="es-ES" b="1" dirty="0"/>
              <a:t>registro y acceso a la OFV</a:t>
            </a:r>
            <a:r>
              <a:rPr lang="es-ES" dirty="0"/>
              <a:t>.</a:t>
            </a:r>
          </a:p>
          <a:p>
            <a:pPr>
              <a:buFont typeface="+mj-lt"/>
              <a:buAutoNum type="arabicPeriod"/>
            </a:pPr>
            <a:r>
              <a:rPr lang="es-ES" dirty="0"/>
              <a:t>La DGII entregará: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Un </a:t>
            </a:r>
            <a:r>
              <a:rPr lang="es-ES" b="1" dirty="0"/>
              <a:t>usuario (número de RNC)</a:t>
            </a:r>
            <a:r>
              <a:rPr lang="es-E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Una </a:t>
            </a:r>
            <a:r>
              <a:rPr lang="es-ES" b="1" dirty="0"/>
              <a:t>clave provisional</a:t>
            </a:r>
            <a:r>
              <a:rPr lang="es-ES" dirty="0"/>
              <a:t> que deberás cambiar al ingresar por primera vez.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FB128B-35E4-21AB-DA2A-980D938231B4}"/>
              </a:ext>
            </a:extLst>
          </p:cNvPr>
          <p:cNvSpPr txBox="1"/>
          <p:nvPr/>
        </p:nvSpPr>
        <p:spPr>
          <a:xfrm>
            <a:off x="6842578" y="320538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B. Persona Física (con Cédula y RNC tipo 1)</a:t>
            </a:r>
          </a:p>
          <a:p>
            <a:pPr>
              <a:buFont typeface="+mj-lt"/>
              <a:buAutoNum type="arabicPeriod"/>
            </a:pPr>
            <a:r>
              <a:rPr lang="es-ES" dirty="0"/>
              <a:t>Ingresa a 👉 https://ofv.dgii.gov.do</a:t>
            </a:r>
          </a:p>
          <a:p>
            <a:pPr>
              <a:buFont typeface="+mj-lt"/>
              <a:buAutoNum type="arabicPeriod"/>
            </a:pPr>
            <a:r>
              <a:rPr lang="es-ES" dirty="0"/>
              <a:t>Clic en </a:t>
            </a:r>
            <a:r>
              <a:rPr lang="es-ES" b="1" dirty="0"/>
              <a:t>“¿No tienes clave?”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Completa el formulario: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Cédula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Fecha de nacimiento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dirty="0"/>
              <a:t>Correo electrónico registrado</a:t>
            </a:r>
          </a:p>
          <a:p>
            <a:pPr>
              <a:buFont typeface="+mj-lt"/>
              <a:buAutoNum type="arabicPeriod"/>
            </a:pPr>
            <a:r>
              <a:rPr lang="es-ES" dirty="0"/>
              <a:t>Recibirás una clave provisional en tu correo.</a:t>
            </a:r>
          </a:p>
          <a:p>
            <a:pPr>
              <a:buFont typeface="+mj-lt"/>
              <a:buAutoNum type="arabicPeriod"/>
            </a:pPr>
            <a:r>
              <a:rPr lang="es-ES" dirty="0"/>
              <a:t>Cambia la clave al primer inicio de sesión.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C33480-72A7-B3C8-745A-C754FE9B07D9}"/>
              </a:ext>
            </a:extLst>
          </p:cNvPr>
          <p:cNvSpPr txBox="1"/>
          <p:nvPr/>
        </p:nvSpPr>
        <p:spPr>
          <a:xfrm>
            <a:off x="3842203" y="7730141"/>
            <a:ext cx="6534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Enlace directo a la Oficina Virtual:</a:t>
            </a:r>
          </a:p>
          <a:p>
            <a:pPr>
              <a:buNone/>
            </a:pPr>
            <a:r>
              <a:rPr lang="es-ES" dirty="0"/>
              <a:t>👉 https://ofv.dgii.gov.do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C49085-272D-0053-DF44-2C68B476B1FF}"/>
              </a:ext>
            </a:extLst>
          </p:cNvPr>
          <p:cNvSpPr/>
          <p:nvPr/>
        </p:nvSpPr>
        <p:spPr>
          <a:xfrm>
            <a:off x="0" y="9563567"/>
            <a:ext cx="88402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800" b="1" dirty="0">
                <a:solidFill>
                  <a:schemeClr val="accent6">
                    <a:lumMod val="50000"/>
                  </a:schemeClr>
                </a:solidFill>
              </a:rPr>
              <a:t>Etapa 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F9D0BDD-4922-4540-F636-FBFE314F4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649" y="8901487"/>
            <a:ext cx="1076475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581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BA513-D351-48AE-CC94-ED08D7A5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F41FB6-618D-33D7-C10C-7F8A1716E646}"/>
              </a:ext>
            </a:extLst>
          </p:cNvPr>
          <p:cNvSpPr/>
          <p:nvPr/>
        </p:nvSpPr>
        <p:spPr>
          <a:xfrm>
            <a:off x="166914" y="1549586"/>
            <a:ext cx="11858172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400" b="1" dirty="0"/>
              <a:t>Disponer de un certificado digital para Procedimiento Tributario, emitido por una prestadora de servicios de confianza que corresponda a la persona que actuará como Usuario Administrador e-CF1.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F655F3-8131-46B1-4D3C-7F85049CD33A}"/>
              </a:ext>
            </a:extLst>
          </p:cNvPr>
          <p:cNvSpPr txBox="1"/>
          <p:nvPr/>
        </p:nvSpPr>
        <p:spPr>
          <a:xfrm>
            <a:off x="787853" y="2982644"/>
            <a:ext cx="9658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6">
                    <a:lumMod val="50000"/>
                  </a:schemeClr>
                </a:solidFill>
              </a:rPr>
              <a:t>Las Prestadoras de Servicios Autorizadas en el país son:</a:t>
            </a:r>
          </a:p>
          <a:p>
            <a:pPr algn="ctr"/>
            <a:r>
              <a:rPr lang="es-ES" dirty="0" err="1">
                <a:solidFill>
                  <a:schemeClr val="accent6">
                    <a:lumMod val="50000"/>
                  </a:schemeClr>
                </a:solidFill>
              </a:rPr>
              <a:t>Avansi</a:t>
            </a:r>
            <a:r>
              <a:rPr lang="es-ES" dirty="0">
                <a:solidFill>
                  <a:schemeClr val="accent6">
                    <a:lumMod val="50000"/>
                  </a:schemeClr>
                </a:solidFill>
              </a:rPr>
              <a:t>, Cámara de Comercio y Producción de Santo Domingo. </a:t>
            </a:r>
            <a:endParaRPr lang="es-419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3B143-5F14-758A-81EC-46ECBA18B960}"/>
              </a:ext>
            </a:extLst>
          </p:cNvPr>
          <p:cNvSpPr txBox="1"/>
          <p:nvPr/>
        </p:nvSpPr>
        <p:spPr>
          <a:xfrm>
            <a:off x="341086" y="4551578"/>
            <a:ext cx="1168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🧩 Solicita el certificado digital</a:t>
            </a:r>
          </a:p>
          <a:p>
            <a:pPr>
              <a:buNone/>
            </a:pPr>
            <a:r>
              <a:rPr lang="es-ES" sz="2400" dirty="0"/>
              <a:t>Los pasos generales son:</a:t>
            </a:r>
          </a:p>
          <a:p>
            <a:pPr>
              <a:buFont typeface="+mj-lt"/>
              <a:buAutoNum type="arabicPeriod"/>
            </a:pPr>
            <a:r>
              <a:rPr lang="es-ES" sz="2400" dirty="0"/>
              <a:t>Accede al sitio web de la entidad certificadora.</a:t>
            </a:r>
          </a:p>
          <a:p>
            <a:pPr>
              <a:buFont typeface="+mj-lt"/>
              <a:buAutoNum type="arabicPeriod"/>
            </a:pPr>
            <a:r>
              <a:rPr lang="es-ES" sz="2400" dirty="0"/>
              <a:t>Escoge el </a:t>
            </a:r>
            <a:r>
              <a:rPr lang="es-ES" sz="2400" b="1" dirty="0"/>
              <a:t>certificado para procedimientos tributarios o firma electrónica simple</a:t>
            </a:r>
            <a:r>
              <a:rPr lang="es-E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s-ES" sz="2400" dirty="0"/>
              <a:t>Llena el formulario de solicitud en línea.</a:t>
            </a:r>
          </a:p>
          <a:p>
            <a:pPr>
              <a:buFont typeface="+mj-lt"/>
              <a:buAutoNum type="arabicPeriod"/>
            </a:pPr>
            <a:r>
              <a:rPr lang="es-ES" sz="2400" dirty="0"/>
              <a:t>Realiza el </a:t>
            </a:r>
            <a:r>
              <a:rPr lang="es-ES" sz="2400" b="1" dirty="0"/>
              <a:t>pago del servicio</a:t>
            </a:r>
            <a:r>
              <a:rPr lang="es-ES" sz="2400" dirty="0"/>
              <a:t> (rango RD$2,500 – RD$5,000 según entidad y vigencia).</a:t>
            </a:r>
          </a:p>
          <a:p>
            <a:pPr>
              <a:buFont typeface="+mj-lt"/>
              <a:buAutoNum type="arabicPeriod"/>
            </a:pPr>
            <a:r>
              <a:rPr lang="es-ES" sz="2400" dirty="0"/>
              <a:t>Completa la </a:t>
            </a:r>
            <a:r>
              <a:rPr lang="es-ES" sz="2400" b="1" dirty="0"/>
              <a:t>verificación presencial o virtual</a:t>
            </a:r>
            <a:r>
              <a:rPr lang="es-ES" sz="2400" dirty="0"/>
              <a:t> (verificación biométrica y validación de identidad).</a:t>
            </a:r>
          </a:p>
          <a:p>
            <a:pPr>
              <a:buFont typeface="+mj-lt"/>
              <a:buAutoNum type="arabicPeriod"/>
            </a:pPr>
            <a:r>
              <a:rPr lang="es-ES" sz="2400" dirty="0"/>
              <a:t>Recibes el certificado como </a:t>
            </a:r>
            <a:r>
              <a:rPr lang="es-ES" sz="2400" b="1" dirty="0"/>
              <a:t>archivo .p12 o .</a:t>
            </a:r>
            <a:r>
              <a:rPr lang="es-ES" sz="2400" b="1" dirty="0" err="1"/>
              <a:t>pfx</a:t>
            </a:r>
            <a:r>
              <a:rPr lang="es-ES" sz="2400" dirty="0"/>
              <a:t>, junto con una contraseña.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306BA0-455B-11EA-9A2C-B58089AEEF28}"/>
              </a:ext>
            </a:extLst>
          </p:cNvPr>
          <p:cNvSpPr/>
          <p:nvPr/>
        </p:nvSpPr>
        <p:spPr>
          <a:xfrm>
            <a:off x="166914" y="9650653"/>
            <a:ext cx="88402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800" b="1" dirty="0">
                <a:solidFill>
                  <a:schemeClr val="accent6">
                    <a:lumMod val="50000"/>
                  </a:schemeClr>
                </a:solidFill>
              </a:rPr>
              <a:t>Etapa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07120C-7EC7-4E1C-2495-5BFA3BEA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611" y="8907277"/>
            <a:ext cx="1076475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7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7ABD-24DE-78FB-E0A8-EFB9362E8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schemeClr val="accent6">
                    <a:lumMod val="50000"/>
                  </a:schemeClr>
                </a:solidFill>
              </a:rPr>
              <a:t>Disponer de un software para la emisión de Comprobantes Fiscales Electrónicos (e-CF).</a:t>
            </a:r>
            <a:endParaRPr lang="es-419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A24B8E-3C16-4DE9-3EC5-C29B1443C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43" y="3508929"/>
            <a:ext cx="6192114" cy="34390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24FEE6-22DE-8F41-579F-0D434EEE74EF}"/>
              </a:ext>
            </a:extLst>
          </p:cNvPr>
          <p:cNvSpPr txBox="1"/>
          <p:nvPr/>
        </p:nvSpPr>
        <p:spPr>
          <a:xfrm>
            <a:off x="1723168" y="7750628"/>
            <a:ext cx="874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Aquí indica que debe tener un sistema capaz de soportar la comunicación con la DGII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7FA22D-B161-ABDA-4253-28CC068FFACA}"/>
              </a:ext>
            </a:extLst>
          </p:cNvPr>
          <p:cNvSpPr/>
          <p:nvPr/>
        </p:nvSpPr>
        <p:spPr>
          <a:xfrm>
            <a:off x="166914" y="9650653"/>
            <a:ext cx="88402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800" b="1" dirty="0">
                <a:solidFill>
                  <a:schemeClr val="accent6">
                    <a:lumMod val="50000"/>
                  </a:schemeClr>
                </a:solidFill>
              </a:rPr>
              <a:t>Etapa 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467D13-7FAE-18D1-8B3F-DA1F1C936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0413" y="8988573"/>
            <a:ext cx="1076475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23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48602-54D9-8246-C4DD-C599156C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E6CA01B-0DEB-4E9A-9768-B728DA42C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104568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57D8C8E-634E-4E83-9657-225A4DFE4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6335"/>
            <a:ext cx="2514948" cy="3315354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D5D1578-BE90-4A7E-9856-BB4025E5A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8ADDDE1-EC05-4BE5-9866-89714E0B7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118A52-E1FF-455C-B1A1-1CF50EE0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0E1677B-677B-48F1-971D-9E7F3CA51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4" name="Picture 2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C2442A9-98A6-F9CA-7907-7FDDB82C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22" y="3954697"/>
            <a:ext cx="7034803" cy="47309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0721A4E-9380-1C08-9F8E-13A510A9AC81}"/>
              </a:ext>
            </a:extLst>
          </p:cNvPr>
          <p:cNvSpPr txBox="1"/>
          <p:nvPr/>
        </p:nvSpPr>
        <p:spPr>
          <a:xfrm>
            <a:off x="174730" y="2822821"/>
            <a:ext cx="4650524" cy="5549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2"/>
                </a:solidFill>
              </a:rPr>
              <a:t>Si la </a:t>
            </a:r>
            <a:r>
              <a:rPr lang="en-US" sz="2300" dirty="0" err="1">
                <a:solidFill>
                  <a:schemeClr val="tx2"/>
                </a:solidFill>
              </a:rPr>
              <a:t>solicitud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err="1">
                <a:solidFill>
                  <a:schemeClr val="tx2"/>
                </a:solidFill>
              </a:rPr>
              <a:t>cumple</a:t>
            </a:r>
            <a:r>
              <a:rPr lang="en-US" sz="2300" dirty="0">
                <a:solidFill>
                  <a:schemeClr val="tx2"/>
                </a:solidFill>
              </a:rPr>
              <a:t> con </a:t>
            </a:r>
            <a:r>
              <a:rPr lang="en-US" sz="2300" dirty="0" err="1">
                <a:solidFill>
                  <a:schemeClr val="tx2"/>
                </a:solidFill>
              </a:rPr>
              <a:t>todas</a:t>
            </a:r>
            <a:r>
              <a:rPr lang="en-US" sz="2300" dirty="0">
                <a:solidFill>
                  <a:schemeClr val="tx2"/>
                </a:solidFill>
              </a:rPr>
              <a:t> las </a:t>
            </a:r>
            <a:r>
              <a:rPr lang="en-US" sz="2300" dirty="0" err="1">
                <a:solidFill>
                  <a:schemeClr val="tx2"/>
                </a:solidFill>
              </a:rPr>
              <a:t>especificaciones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err="1">
                <a:solidFill>
                  <a:schemeClr val="tx2"/>
                </a:solidFill>
              </a:rPr>
              <a:t>indicadas</a:t>
            </a:r>
            <a:r>
              <a:rPr lang="en-US" sz="2300" dirty="0">
                <a:solidFill>
                  <a:schemeClr val="tx2"/>
                </a:solidFill>
              </a:rPr>
              <a:t>, </a:t>
            </a:r>
            <a:r>
              <a:rPr lang="en-US" sz="2300" dirty="0" err="1">
                <a:solidFill>
                  <a:schemeClr val="tx2"/>
                </a:solidFill>
              </a:rPr>
              <a:t>el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err="1">
                <a:solidFill>
                  <a:schemeClr val="tx2"/>
                </a:solidFill>
              </a:rPr>
              <a:t>contribuyente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err="1">
                <a:solidFill>
                  <a:schemeClr val="tx2"/>
                </a:solidFill>
              </a:rPr>
              <a:t>recibirá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err="1">
                <a:solidFill>
                  <a:schemeClr val="tx2"/>
                </a:solidFill>
              </a:rPr>
              <a:t>por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err="1">
                <a:solidFill>
                  <a:schemeClr val="tx2"/>
                </a:solidFill>
              </a:rPr>
              <a:t>su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err="1">
                <a:solidFill>
                  <a:schemeClr val="tx2"/>
                </a:solidFill>
              </a:rPr>
              <a:t>Oficina</a:t>
            </a:r>
            <a:r>
              <a:rPr lang="en-US" sz="2300" dirty="0">
                <a:solidFill>
                  <a:schemeClr val="tx2"/>
                </a:solidFill>
              </a:rPr>
              <a:t> Virtual </a:t>
            </a:r>
            <a:r>
              <a:rPr lang="en-US" sz="2300" dirty="0" err="1">
                <a:solidFill>
                  <a:schemeClr val="tx2"/>
                </a:solidFill>
              </a:rPr>
              <a:t>el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err="1">
                <a:solidFill>
                  <a:schemeClr val="tx2"/>
                </a:solidFill>
              </a:rPr>
              <a:t>usuario</a:t>
            </a:r>
            <a:r>
              <a:rPr lang="en-US" sz="2300" dirty="0">
                <a:solidFill>
                  <a:schemeClr val="tx2"/>
                </a:solidFill>
              </a:rPr>
              <a:t> y clave de </a:t>
            </a:r>
            <a:r>
              <a:rPr lang="en-US" sz="2300" dirty="0" err="1">
                <a:solidFill>
                  <a:schemeClr val="tx2"/>
                </a:solidFill>
              </a:rPr>
              <a:t>acceso</a:t>
            </a:r>
            <a:r>
              <a:rPr lang="en-US" sz="2300" dirty="0">
                <a:solidFill>
                  <a:schemeClr val="tx2"/>
                </a:solidFill>
              </a:rPr>
              <a:t> al portal web de </a:t>
            </a:r>
            <a:r>
              <a:rPr lang="en-US" sz="2300" dirty="0" err="1">
                <a:solidFill>
                  <a:schemeClr val="tx2"/>
                </a:solidFill>
              </a:rPr>
              <a:t>Facturación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err="1">
                <a:solidFill>
                  <a:schemeClr val="tx2"/>
                </a:solidFill>
              </a:rPr>
              <a:t>Electrónica</a:t>
            </a:r>
            <a:r>
              <a:rPr lang="en-US" sz="2300" dirty="0">
                <a:solidFill>
                  <a:schemeClr val="tx2"/>
                </a:solidFill>
              </a:rPr>
              <a:t> (FE), </a:t>
            </a:r>
            <a:r>
              <a:rPr lang="en-US" sz="2300" dirty="0" err="1">
                <a:solidFill>
                  <a:schemeClr val="tx2"/>
                </a:solidFill>
              </a:rPr>
              <a:t>donde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err="1">
                <a:solidFill>
                  <a:schemeClr val="tx2"/>
                </a:solidFill>
              </a:rPr>
              <a:t>iniciará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err="1">
                <a:solidFill>
                  <a:schemeClr val="tx2"/>
                </a:solidFill>
              </a:rPr>
              <a:t>el</a:t>
            </a:r>
            <a:r>
              <a:rPr lang="en-US" sz="2300" dirty="0">
                <a:solidFill>
                  <a:schemeClr val="tx2"/>
                </a:solidFill>
              </a:rPr>
              <a:t> </a:t>
            </a:r>
            <a:r>
              <a:rPr lang="en-US" sz="2300" dirty="0" err="1">
                <a:solidFill>
                  <a:schemeClr val="tx2"/>
                </a:solidFill>
              </a:rPr>
              <a:t>proceso</a:t>
            </a:r>
            <a:r>
              <a:rPr lang="en-US" sz="2300" dirty="0">
                <a:solidFill>
                  <a:schemeClr val="tx2"/>
                </a:solidFill>
              </a:rPr>
              <a:t> de </a:t>
            </a:r>
            <a:r>
              <a:rPr lang="en-US" sz="2300" dirty="0" err="1">
                <a:solidFill>
                  <a:schemeClr val="tx2"/>
                </a:solidFill>
              </a:rPr>
              <a:t>certificación</a:t>
            </a:r>
            <a:r>
              <a:rPr lang="en-US" sz="2300" dirty="0">
                <a:solidFill>
                  <a:schemeClr val="tx2"/>
                </a:solidFill>
              </a:rPr>
              <a:t>.</a:t>
            </a:r>
          </a:p>
        </p:txBody>
      </p:sp>
      <p:pic>
        <p:nvPicPr>
          <p:cNvPr id="26" name="Picture 25" descr="A close up of a document&#10;&#10;AI-generated content may be incorrect.">
            <a:extLst>
              <a:ext uri="{FF2B5EF4-FFF2-40B4-BE49-F238E27FC236}">
                <a16:creationId xmlns:a16="http://schemas.microsoft.com/office/drawing/2014/main" id="{1F4437F5-67AE-3CA1-A3F5-A5198A7A5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857" y="155378"/>
            <a:ext cx="6837538" cy="3521331"/>
          </a:xfrm>
          <a:prstGeom prst="rect">
            <a:avLst/>
          </a:prstGeom>
        </p:spPr>
      </p:pic>
      <p:pic>
        <p:nvPicPr>
          <p:cNvPr id="15" name="Picture 14" descr="A close up of a sign&#10;&#10;AI-generated content may be incorrect.">
            <a:extLst>
              <a:ext uri="{FF2B5EF4-FFF2-40B4-BE49-F238E27FC236}">
                <a16:creationId xmlns:a16="http://schemas.microsoft.com/office/drawing/2014/main" id="{78D76A7C-2CDF-D3FD-7B39-911E24FCA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82" y="3308650"/>
            <a:ext cx="3774960" cy="73611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82E56DD-D645-44A5-301B-8D35F73E70DB}"/>
              </a:ext>
            </a:extLst>
          </p:cNvPr>
          <p:cNvSpPr/>
          <p:nvPr/>
        </p:nvSpPr>
        <p:spPr>
          <a:xfrm>
            <a:off x="166914" y="9650653"/>
            <a:ext cx="88402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800" b="1" dirty="0">
                <a:solidFill>
                  <a:schemeClr val="accent6">
                    <a:lumMod val="50000"/>
                  </a:schemeClr>
                </a:solidFill>
              </a:rPr>
              <a:t>Etapa 1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B3F8A4D-6F3D-8CF4-29D6-52E79D281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2350" y="9024156"/>
            <a:ext cx="1076475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12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11D1E-5DCB-2700-48BB-FBC820F02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1730C8-E32B-004F-82DA-D2F89DE2D6EF}"/>
              </a:ext>
            </a:extLst>
          </p:cNvPr>
          <p:cNvSpPr/>
          <p:nvPr/>
        </p:nvSpPr>
        <p:spPr>
          <a:xfrm>
            <a:off x="4350657" y="492139"/>
            <a:ext cx="3490685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800" b="1" dirty="0">
                <a:solidFill>
                  <a:schemeClr val="accent6">
                    <a:lumMod val="50000"/>
                  </a:schemeClr>
                </a:solidFill>
              </a:rPr>
              <a:t>Etapa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A2CCA3-4C09-8F4C-F65A-29C64710C22A}"/>
              </a:ext>
            </a:extLst>
          </p:cNvPr>
          <p:cNvSpPr txBox="1"/>
          <p:nvPr/>
        </p:nvSpPr>
        <p:spPr>
          <a:xfrm>
            <a:off x="2394857" y="148325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0" i="0" u="none" strike="noStrike" baseline="0" dirty="0">
                <a:solidFill>
                  <a:srgbClr val="424143"/>
                </a:solidFill>
                <a:latin typeface="Lucida Sans" panose="020B0602030504020204" pitchFamily="34" charset="0"/>
              </a:rPr>
              <a:t>se valida la capacidad técnica para cumplir con los requisitos para </a:t>
            </a:r>
            <a:r>
              <a:rPr lang="es-419" sz="1800" b="0" i="0" u="none" strike="noStrike" baseline="0" dirty="0">
                <a:solidFill>
                  <a:srgbClr val="424143"/>
                </a:solidFill>
                <a:latin typeface="Lucida Sans" panose="020B0602030504020204" pitchFamily="34" charset="0"/>
              </a:rPr>
              <a:t>ser emisor electrónico </a:t>
            </a:r>
            <a:endParaRPr lang="es-419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728BB4-D913-9C41-1B32-BA62F39EE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" y="2688726"/>
            <a:ext cx="5839640" cy="55729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AA6B9-4F44-786F-09BF-4E481F2D9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412" y="2651206"/>
            <a:ext cx="6182588" cy="69542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02F086-9853-4335-E27A-2100A7DF5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39" y="8675018"/>
            <a:ext cx="1609950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806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0456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386788"/>
            <a:ext cx="1827638" cy="20995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643674"/>
            <a:ext cx="645368" cy="98403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998936"/>
            <a:ext cx="687472" cy="104823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2257933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9324723"/>
            <a:ext cx="1494513" cy="113213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86BE8D-A602-2666-3E33-B27C26404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43" y="2333181"/>
            <a:ext cx="10905066" cy="373498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9839549"/>
            <a:ext cx="814903" cy="61731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9F5D3-144A-EADF-F73F-8F20260D34F8}"/>
              </a:ext>
            </a:extLst>
          </p:cNvPr>
          <p:cNvSpPr/>
          <p:nvPr/>
        </p:nvSpPr>
        <p:spPr>
          <a:xfrm>
            <a:off x="166914" y="9650653"/>
            <a:ext cx="884022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800" b="1" dirty="0">
                <a:solidFill>
                  <a:schemeClr val="accent6">
                    <a:lumMod val="50000"/>
                  </a:schemeClr>
                </a:solidFill>
              </a:rPr>
              <a:t>Etapa 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F2BF8A-AA98-37FD-ED36-AF2B0EC08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189" y="8989808"/>
            <a:ext cx="1609950" cy="14670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292DBE-656C-2280-20FD-5B3119CD6DB9}"/>
              </a:ext>
            </a:extLst>
          </p:cNvPr>
          <p:cNvSpPr txBox="1"/>
          <p:nvPr/>
        </p:nvSpPr>
        <p:spPr>
          <a:xfrm>
            <a:off x="1749716" y="1360920"/>
            <a:ext cx="8497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Para que otros emisores (receptores) y la </a:t>
            </a:r>
            <a:r>
              <a:rPr lang="es-ES" dirty="0" err="1"/>
              <a:t>dgii</a:t>
            </a:r>
            <a:r>
              <a:rPr lang="es-ES" dirty="0"/>
              <a:t> pueda </a:t>
            </a:r>
            <a:r>
              <a:rPr lang="es-ES" dirty="0" err="1"/>
              <a:t>interactual</a:t>
            </a:r>
            <a:r>
              <a:rPr lang="es-ES" dirty="0"/>
              <a:t> con nuestro sistema Odoo, es necesario proveer en esta etapa las siguientes 3 </a:t>
            </a:r>
            <a:r>
              <a:rPr lang="es-ES" dirty="0" err="1"/>
              <a:t>urls</a:t>
            </a:r>
            <a:endParaRPr lang="es-419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DEA3AE-D9B0-7953-6280-4650C824F2C1}"/>
              </a:ext>
            </a:extLst>
          </p:cNvPr>
          <p:cNvSpPr txBox="1"/>
          <p:nvPr/>
        </p:nvSpPr>
        <p:spPr>
          <a:xfrm>
            <a:off x="537662" y="6559490"/>
            <a:ext cx="1033353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 err="1"/>
              <a:t>Url</a:t>
            </a:r>
            <a:r>
              <a:rPr lang="es-ES" b="1" dirty="0"/>
              <a:t> de </a:t>
            </a:r>
            <a:r>
              <a:rPr lang="es-ES" b="1" dirty="0" err="1"/>
              <a:t>Recepcion</a:t>
            </a:r>
            <a:r>
              <a:rPr lang="es-ES" b="1" dirty="0"/>
              <a:t>:</a:t>
            </a:r>
            <a:r>
              <a:rPr lang="es-ES" dirty="0"/>
              <a:t> Recibe los e-CF que otros emisores electrónicos te envían como receptor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 err="1"/>
              <a:t>Url</a:t>
            </a:r>
            <a:r>
              <a:rPr lang="es-ES" b="1" dirty="0"/>
              <a:t> de </a:t>
            </a:r>
            <a:r>
              <a:rPr lang="es-ES" b="1" dirty="0" err="1"/>
              <a:t>Aprobacion</a:t>
            </a:r>
            <a:r>
              <a:rPr lang="es-ES" b="1" dirty="0"/>
              <a:t> Comercial:</a:t>
            </a:r>
            <a:r>
              <a:rPr lang="es-ES" dirty="0"/>
              <a:t> Recibe los archivos XML de Aprobación o Rechazo Comercial que otro receptor envía cuando valida una factura (para que le aprobemos o no la factura)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b="1" dirty="0" err="1"/>
              <a:t>Url</a:t>
            </a:r>
            <a:r>
              <a:rPr lang="es-ES" b="1" dirty="0"/>
              <a:t> de </a:t>
            </a:r>
            <a:r>
              <a:rPr lang="es-ES" b="1" dirty="0" err="1"/>
              <a:t>Autenticacion</a:t>
            </a:r>
            <a:r>
              <a:rPr lang="es-ES" b="1" dirty="0"/>
              <a:t>: </a:t>
            </a:r>
            <a:r>
              <a:rPr lang="es-ES" dirty="0"/>
              <a:t>Servicio web responsable de generar una sesión para el contribuyente, validando su identidad mediante el uso de un certificado digital sobre un archivo (Semilla) que obtendrá de una petición y el cual, deberá enviar firmado para recibir un token con una duración determinada (1 hora por el momento).</a:t>
            </a:r>
          </a:p>
          <a:p>
            <a:endParaRPr lang="es-ES" dirty="0"/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820031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1A80-EFAB-F8B0-EDF5-9A1DF8AC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Lleva tilde continuará? | LlevaTilde.es">
            <a:extLst>
              <a:ext uri="{FF2B5EF4-FFF2-40B4-BE49-F238E27FC236}">
                <a16:creationId xmlns:a16="http://schemas.microsoft.com/office/drawing/2014/main" id="{A76A7BA9-FC7F-BF41-DBC9-145BF2F74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55813"/>
            <a:ext cx="11430000" cy="634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777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80DB-9E35-2E24-DEC9-25FAA79A5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en Alegra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9BCBC-67EF-E5B5-5103-5407E6265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419" dirty="0"/>
              <a:t>https://ayuda.alegra.com/es/pasos-para-habilitarse-en-la-dgii-como-facturador-electronico</a:t>
            </a:r>
          </a:p>
        </p:txBody>
      </p:sp>
    </p:spTree>
    <p:extLst>
      <p:ext uri="{BB962C8B-B14F-4D97-AF65-F5344CB8AC3E}">
        <p14:creationId xmlns:p14="http://schemas.microsoft.com/office/powerpoint/2010/main" val="419065867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870</TotalTime>
  <Words>810</Words>
  <Application>Microsoft Office PowerPoint</Application>
  <PresentationFormat>Custom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Bierstadt</vt:lpstr>
      <vt:lpstr>Lucida Sans</vt:lpstr>
      <vt:lpstr>Wingdings</vt:lpstr>
      <vt:lpstr>GestaltVTI</vt:lpstr>
      <vt:lpstr>Office Theme</vt:lpstr>
      <vt:lpstr>Facturacion Electronica</vt:lpstr>
      <vt:lpstr>PowerPoint Presentation</vt:lpstr>
      <vt:lpstr>Como Emisor de eFC</vt:lpstr>
      <vt:lpstr>PowerPoint Presentation</vt:lpstr>
      <vt:lpstr>PowerPoint Presentation</vt:lpstr>
      <vt:lpstr>PowerPoint Presentation</vt:lpstr>
      <vt:lpstr>Disponer de un software para la emisión de Comprobantes Fiscales Electrónicos (e-CF).</vt:lpstr>
      <vt:lpstr>PowerPoint Presentation</vt:lpstr>
      <vt:lpstr>PowerPoint Presentation</vt:lpstr>
      <vt:lpstr>PowerPoint Presentation</vt:lpstr>
      <vt:lpstr>PowerPoint Presentation</vt:lpstr>
      <vt:lpstr>Ejemplo en Alegra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Emy Saúl Soto</dc:creator>
  <cp:lastModifiedBy>Emy Saúl Soto</cp:lastModifiedBy>
  <cp:revision>3</cp:revision>
  <dcterms:created xsi:type="dcterms:W3CDTF">2025-07-19T15:22:42Z</dcterms:created>
  <dcterms:modified xsi:type="dcterms:W3CDTF">2025-07-29T00:53:22Z</dcterms:modified>
</cp:coreProperties>
</file>